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48840" cy="6858000"/>
          </a:xfrm>
          <a:prstGeom prst="rect">
            <a:avLst/>
          </a:prstGeom>
          <a:solidFill>
            <a:srgbClr val="C0003B"/>
          </a:solidFill>
          <a:ln w="12700">
            <a:solidFill>
              <a:srgbClr val="C000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48840" y="0"/>
            <a:ext cx="384048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5" name="Image 0" descr="/mnt/data/f0119b7b-3c97-4236-9102-a90e0a5f2e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502920"/>
            <a:ext cx="2743200" cy="8961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8036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3B"/>
                </a:solidFill>
              </a:rPr>
              <a:t>SEMANA 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852928" y="1755648"/>
            <a:ext cx="7223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AS-IS, TO-BE y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requerimientos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2880360" y="3328416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03030"/>
                </a:solidFill>
              </a:rPr>
              <a:t>Curso integrador II: software (100000S12F)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880360" y="373075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77777"/>
                </a:solidFill>
              </a:rPr>
              <a:t>Caso guía: Mesa de Ayuda Académica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880360" y="4343400"/>
            <a:ext cx="3200400" cy="310896"/>
          </a:xfrm>
          <a:prstGeom prst="roundRect">
            <a:avLst>
              <a:gd name="adj" fmla="val 26471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80360" y="4416552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PRESENCIAL · TRABAJO POR EQUIPOS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0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DEL SÍLABO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64008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estamos en el curso</a:t>
            </a:r>
            <a:endParaRPr lang="en-US" sz="2700" dirty="0"/>
          </a:p>
        </p:txBody>
      </p:sp>
      <p:pic>
        <p:nvPicPr>
          <p:cNvPr id="4" name="Image 0" descr="/mnt/data/f0119b7b-3c97-4236-9102-a90e0a5f2e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56" y="164592"/>
            <a:ext cx="1664208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417320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FCE7EE"/>
          </a:solidFill>
          <a:ln w="13970">
            <a:solidFill>
              <a:srgbClr val="C0003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0936" y="1527048"/>
            <a:ext cx="3035808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Unidad de aprendizaje 1: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“Planificación y Front-End.”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160520" y="1417320"/>
            <a:ext cx="39319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0D0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88536" y="1527048"/>
            <a:ext cx="3675888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Semana 2 · Sesiones 3 y 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Gestión de herramientas, plataformas, wireframes, mockups y mejores prácticas UX.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458200" y="1417320"/>
            <a:ext cx="2971800" cy="109728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 w="1397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86216" y="1527048"/>
            <a:ext cx="2715768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Logro de unidad: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Iniciar el desarrollo de un proyecto de software cubriendo análisis del negocio, planificación y Front-End.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58368" y="29718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</a:rPr>
              <a:t>En esta clase, los equipos convierten un problema real en insumos de proyecto.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731520" y="37033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3867912"/>
            <a:ext cx="384048" cy="384048"/>
          </a:xfrm>
          <a:prstGeom prst="ellipse">
            <a:avLst/>
          </a:prstGeom>
          <a:solidFill>
            <a:srgbClr val="C0003B"/>
          </a:solidFill>
          <a:ln w="12700">
            <a:solidFill>
              <a:srgbClr val="C000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7824" y="39684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371600" y="38404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AS-IS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71600" y="4178808"/>
            <a:ext cx="1874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03030"/>
                </a:solidFill>
              </a:rPr>
              <a:t>Describir cómo funciona hoy el proceso.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611880" y="37033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58184" y="3867912"/>
            <a:ext cx="384048" cy="384048"/>
          </a:xfrm>
          <a:prstGeom prst="ellipse">
            <a:avLst/>
          </a:prstGeom>
          <a:solidFill>
            <a:srgbClr val="C0003B"/>
          </a:solidFill>
          <a:ln w="12700">
            <a:solidFill>
              <a:srgbClr val="C0003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58184" y="39684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251960" y="38404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Dolores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251960" y="4178808"/>
            <a:ext cx="1874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03030"/>
                </a:solidFill>
              </a:rPr>
              <a:t>Detectar pérdidas de tiempo, errores y falta de control.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492240" y="3703320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638544" y="3867912"/>
            <a:ext cx="384048" cy="384048"/>
          </a:xfrm>
          <a:prstGeom prst="ellipse">
            <a:avLst/>
          </a:prstGeom>
          <a:solidFill>
            <a:srgbClr val="C0003B"/>
          </a:solidFill>
          <a:ln w="12700">
            <a:solidFill>
              <a:srgbClr val="C0003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38544" y="39684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132320" y="38404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RF / RNF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132320" y="4178808"/>
            <a:ext cx="1874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03030"/>
                </a:solidFill>
              </a:rPr>
              <a:t>Redactar necesidades funcionales y de calidad.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9372600" y="370332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518904" y="3867912"/>
            <a:ext cx="384048" cy="384048"/>
          </a:xfrm>
          <a:prstGeom prst="ellipse">
            <a:avLst/>
          </a:prstGeom>
          <a:solidFill>
            <a:srgbClr val="C0003B"/>
          </a:solidFill>
          <a:ln w="12700">
            <a:solidFill>
              <a:srgbClr val="C0003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518904" y="39684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0012680" y="38404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TO-BE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10012680" y="4178808"/>
            <a:ext cx="1737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03030"/>
                </a:solidFill>
              </a:rPr>
              <a:t>Proponer el proceso mejorado con el sistema.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320040" y="6528816"/>
            <a:ext cx="1156716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20040" y="658368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Curso integrador II: software (100000S12F) · Semana 2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1411712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0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64008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 entrada</a:t>
            </a:r>
            <a:endParaRPr lang="en-US" sz="2700" dirty="0"/>
          </a:p>
        </p:txBody>
      </p:sp>
      <p:pic>
        <p:nvPicPr>
          <p:cNvPr id="4" name="Image 0" descr="/mnt/data/f0119b7b-3c97-4236-9102-a90e0a5f2e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56" y="164592"/>
            <a:ext cx="1664208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5544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0000"/>
                </a:solidFill>
              </a:rPr>
              <a:t>¿Qué pasa cuando una solicitud importante llega por WhatsApp?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868680" y="2834640"/>
            <a:ext cx="2359152" cy="1325880"/>
          </a:xfrm>
          <a:prstGeom prst="roundRect">
            <a:avLst>
              <a:gd name="adj" fmla="val 8276"/>
            </a:avLst>
          </a:prstGeom>
          <a:solidFill>
            <a:srgbClr val="FCE7EE"/>
          </a:solidFill>
          <a:ln w="13970">
            <a:solidFill>
              <a:srgbClr val="C000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96696" y="2944368"/>
            <a:ext cx="2103120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Se pierde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No queda registro formal ni responsable claro.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685032" y="2834640"/>
            <a:ext cx="2359152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3970">
            <a:solidFill>
              <a:srgbClr val="D9D9D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13048" y="2944368"/>
            <a:ext cx="2103120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Se duplica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La misma solicitud aparece por varios canales.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501384" y="2834640"/>
            <a:ext cx="2359152" cy="1325880"/>
          </a:xfrm>
          <a:prstGeom prst="roundRect">
            <a:avLst>
              <a:gd name="adj" fmla="val 8276"/>
            </a:avLst>
          </a:prstGeom>
          <a:solidFill>
            <a:srgbClr val="FCE7EE"/>
          </a:solidFill>
          <a:ln w="13970">
            <a:solidFill>
              <a:srgbClr val="C000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29400" y="2944368"/>
            <a:ext cx="2103120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Se olvida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Nadie sabe en qué estado quedó.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9317736" y="2834640"/>
            <a:ext cx="2359152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3970">
            <a:solidFill>
              <a:srgbClr val="D9D9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45752" y="2944368"/>
            <a:ext cx="2103120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No se mide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No hay tiempo de atención ni reporte confiable.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4400" y="50749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3B"/>
                </a:solidFill>
              </a:rPr>
              <a:t>Ese dolor es el punto de partida para levantar AS-IS, requisitos y TO-BE.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320040" y="6528816"/>
            <a:ext cx="1156716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" y="658368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Curso integrador II: software (100000S12F) · Semana 2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411712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0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UTILIDAD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64008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guía para la práctica</a:t>
            </a:r>
            <a:endParaRPr lang="en-US" sz="2700" dirty="0"/>
          </a:p>
        </p:txBody>
      </p:sp>
      <p:pic>
        <p:nvPicPr>
          <p:cNvPr id="4" name="Image 0" descr="/mnt/data/f0119b7b-3c97-4236-9102-a90e0a5f2e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56" y="164592"/>
            <a:ext cx="1664208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325880"/>
            <a:ext cx="10789920" cy="43891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166420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Sistema de Mesa de Ayuda Académica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078992" y="24688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3B"/>
                </a:solidFill>
              </a:rPr>
              <a:t>Problema: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971800" y="2468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3030"/>
                </a:solidFill>
              </a:rPr>
              <a:t>Las solicitudes de estudiantes se reciben por canales dispersos y no existe seguimiento formal.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78992" y="30632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3B"/>
                </a:solidFill>
              </a:rPr>
              <a:t>Meta: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971800" y="3063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3030"/>
                </a:solidFill>
              </a:rPr>
              <a:t>Registrar, asignar, atender y medir solicitudes mediante una solución web simple.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78992" y="36576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3B"/>
                </a:solidFill>
              </a:rPr>
              <a:t>Actores: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971800" y="3657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3030"/>
                </a:solidFill>
              </a:rPr>
              <a:t>Estudiante · Coordinador · Técnico/Docente · Administrador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78992" y="42519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3B"/>
                </a:solidFill>
              </a:rPr>
              <a:t>Producto de hoy: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291840" y="42519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3030"/>
                </a:solidFill>
              </a:rPr>
              <a:t>AS-IS + RF/RNF + base para TO-BE + herramientas del proyecto.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78992" y="4983480"/>
            <a:ext cx="2743200" cy="310896"/>
          </a:xfrm>
          <a:prstGeom prst="roundRect">
            <a:avLst>
              <a:gd name="adj" fmla="val 26471"/>
            </a:avLst>
          </a:prstGeom>
          <a:solidFill>
            <a:srgbClr val="C0003B"/>
          </a:solidFill>
          <a:ln w="12700">
            <a:solidFill>
              <a:srgbClr val="C0003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78992" y="5056632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TRABAJO EN EQUIPOS DE 4 A 5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20040" y="6528816"/>
            <a:ext cx="1156716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658368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Curso integrador II: software (100000S12F) · Semana 2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1411712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0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TRANSFORMACIÓN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64008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y TO-BE sin complicarse</a:t>
            </a:r>
            <a:endParaRPr lang="en-US" sz="2700" dirty="0"/>
          </a:p>
        </p:txBody>
      </p:sp>
      <p:pic>
        <p:nvPicPr>
          <p:cNvPr id="4" name="Image 0" descr="/mnt/data/f0119b7b-3c97-4236-9102-a90e0a5f2e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56" y="164592"/>
            <a:ext cx="1664208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41732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" y="1581912"/>
            <a:ext cx="384048" cy="384048"/>
          </a:xfrm>
          <a:prstGeom prst="ellipse">
            <a:avLst/>
          </a:prstGeom>
          <a:solidFill>
            <a:srgbClr val="C0003B"/>
          </a:solidFill>
          <a:ln w="12700">
            <a:solidFill>
              <a:srgbClr val="C000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" y="16824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280160" y="1554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AS-IS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80160" y="189280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03030"/>
                </a:solidFill>
              </a:rPr>
              <a:t>Cómo trabaja hoy la organización, aunque sea manual, lento o desordenado.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43400" y="141732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89704" y="1581912"/>
            <a:ext cx="384048" cy="384048"/>
          </a:xfrm>
          <a:prstGeom prst="ellipse">
            <a:avLst/>
          </a:prstGeom>
          <a:solidFill>
            <a:srgbClr val="C0003B"/>
          </a:solidFill>
          <a:ln w="12700">
            <a:solidFill>
              <a:srgbClr val="C000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16824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983480" y="1554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Dolor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983480" y="189280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03030"/>
                </a:solidFill>
              </a:rPr>
              <a:t>Qué problema genera ese modo de trabajo: demora, error, pérdida, retrabajo.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0" y="1417320"/>
            <a:ext cx="35204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93024" y="1581912"/>
            <a:ext cx="384048" cy="384048"/>
          </a:xfrm>
          <a:prstGeom prst="ellipse">
            <a:avLst/>
          </a:prstGeom>
          <a:solidFill>
            <a:srgbClr val="C0003B"/>
          </a:solidFill>
          <a:ln w="12700">
            <a:solidFill>
              <a:srgbClr val="C0003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93024" y="168249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686800" y="1554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TO-BE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686800" y="189280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03030"/>
                </a:solidFill>
              </a:rPr>
              <a:t>Cómo debería funcionar con ayuda del sistema propuesto.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187952" y="2057400"/>
            <a:ext cx="128016" cy="0"/>
          </a:xfrm>
          <a:prstGeom prst="line">
            <a:avLst/>
          </a:prstGeom>
          <a:noFill/>
          <a:ln w="21590">
            <a:solidFill>
              <a:srgbClr val="C0003B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882128" y="2057400"/>
            <a:ext cx="128016" cy="0"/>
          </a:xfrm>
          <a:prstGeom prst="line">
            <a:avLst/>
          </a:prstGeom>
          <a:noFill/>
          <a:ln w="21590">
            <a:solidFill>
              <a:srgbClr val="C0003B"/>
            </a:solidFill>
            <a:prstDash val="solid"/>
            <a:headEnd type="none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749808" y="3337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</a:rPr>
              <a:t>Regla sencilla para el aula</a:t>
            </a:r>
            <a:endParaRPr lang="en-US" sz="2500" dirty="0"/>
          </a:p>
        </p:txBody>
      </p:sp>
      <p:sp>
        <p:nvSpPr>
          <p:cNvPr id="23" name="Shape 20"/>
          <p:cNvSpPr/>
          <p:nvPr/>
        </p:nvSpPr>
        <p:spPr>
          <a:xfrm>
            <a:off x="777240" y="3886200"/>
            <a:ext cx="4754880" cy="1097280"/>
          </a:xfrm>
          <a:prstGeom prst="roundRect">
            <a:avLst>
              <a:gd name="adj" fmla="val 10000"/>
            </a:avLst>
          </a:prstGeom>
          <a:solidFill>
            <a:srgbClr val="FCE7EE"/>
          </a:solidFill>
          <a:ln w="13970">
            <a:solidFill>
              <a:srgbClr val="C0003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5256" y="3995928"/>
            <a:ext cx="4498848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Si el estudiante no puede explicar el proceso en voz alta, todavía no tiene un buen AS-IS.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6172200" y="3886200"/>
            <a:ext cx="47548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0D0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00216" y="3995928"/>
            <a:ext cx="4498848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Si el TO-BE no resuelve un dolor detectado, entonces solo es “pantalla bonita”.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320040" y="6528816"/>
            <a:ext cx="1156716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0040" y="658368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Curso integrador II: software (100000S12F) · Semana 2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1411712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0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TRANSFORMACIÓN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64008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AS-IS del caso guía</a:t>
            </a:r>
            <a:endParaRPr lang="en-US" sz="2700" dirty="0"/>
          </a:p>
        </p:txBody>
      </p:sp>
      <p:pic>
        <p:nvPicPr>
          <p:cNvPr id="4" name="Image 0" descr="/mnt/data/f0119b7b-3c97-4236-9102-a90e0a5f2e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56" y="164592"/>
            <a:ext cx="1664208" cy="548640"/>
          </a:xfrm>
          <a:prstGeom prst="rect">
            <a:avLst/>
          </a:prstGeom>
        </p:spPr>
      </p:pic>
      <p:pic>
        <p:nvPicPr>
          <p:cNvPr id="5" name="Image 1" descr="/mnt/data/curso_integrador_ii_software_semana2/diagrama_ASIS_mesa_ayud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155680" cy="44348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580644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0003B"/>
                </a:solidFill>
              </a:rPr>
              <a:t>Usa este AS-IS como modelo. Luego cada equipo debe construir el suyo según su proyecto.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320040" y="6528816"/>
            <a:ext cx="1156716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20040" y="658368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Curso integrador II: software (100000S12F) · Semana 2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11411712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0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TRANSFORMACIÓN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64008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encontrar requisitos desde el AS-IS</a:t>
            </a:r>
            <a:endParaRPr lang="en-US" sz="2700" dirty="0"/>
          </a:p>
        </p:txBody>
      </p:sp>
      <p:pic>
        <p:nvPicPr>
          <p:cNvPr id="4" name="Image 0" descr="/mnt/data/f0119b7b-3c97-4236-9102-a90e0a5f2e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56" y="164592"/>
            <a:ext cx="1664208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572768"/>
            <a:ext cx="2834640" cy="960120"/>
          </a:xfrm>
          <a:prstGeom prst="roundRect">
            <a:avLst>
              <a:gd name="adj" fmla="val 11429"/>
            </a:avLst>
          </a:prstGeom>
          <a:solidFill>
            <a:srgbClr val="FCE7EE"/>
          </a:solidFill>
          <a:ln w="13970">
            <a:solidFill>
              <a:srgbClr val="C0003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9536" y="1682496"/>
            <a:ext cx="2578608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Dolor AS-IS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“No hay canal único”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703320" y="2048256"/>
            <a:ext cx="640080" cy="0"/>
          </a:xfrm>
          <a:prstGeom prst="line">
            <a:avLst/>
          </a:prstGeom>
          <a:noFill/>
          <a:ln w="21590">
            <a:solidFill>
              <a:srgbClr val="C0003B"/>
            </a:solidFill>
            <a:prstDash val="solid"/>
            <a:headEnd type="none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4526280" y="1572768"/>
            <a:ext cx="30175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3970">
            <a:solidFill>
              <a:srgbClr val="D0D0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54296" y="1682496"/>
            <a:ext cx="2761488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Requisito funcional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Registrar solicitud de soporte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80960" y="2048256"/>
            <a:ext cx="640080" cy="0"/>
          </a:xfrm>
          <a:prstGeom prst="line">
            <a:avLst/>
          </a:prstGeom>
          <a:noFill/>
          <a:ln w="21590">
            <a:solidFill>
              <a:srgbClr val="C0003B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8503920" y="1572768"/>
            <a:ext cx="2834640" cy="960120"/>
          </a:xfrm>
          <a:prstGeom prst="roundRect">
            <a:avLst>
              <a:gd name="adj" fmla="val 11429"/>
            </a:avLst>
          </a:prstGeom>
          <a:solidFill>
            <a:srgbClr val="F3F3F3"/>
          </a:solidFill>
          <a:ln w="13970">
            <a:solidFill>
              <a:srgbClr val="D0D0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31936" y="1682496"/>
            <a:ext cx="2578608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Requisito no funcional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Formulario en máximo 3 minutos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60120" y="3063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03030"/>
                </a:solidFill>
              </a:rPr>
              <a:t>No hay seguimiento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663440" y="30632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03030"/>
                </a:solidFill>
              </a:rPr>
              <a:t>Consultar estado de solicitud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641080" y="3063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03030"/>
                </a:solidFill>
              </a:rPr>
              <a:t>Disponibilidad 95%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960120" y="3749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03030"/>
                </a:solidFill>
              </a:rPr>
              <a:t>Información incompleta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4663440" y="3749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03030"/>
                </a:solidFill>
              </a:rPr>
              <a:t>Validar campos obligatorios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8641080" y="3749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03030"/>
                </a:solidFill>
              </a:rPr>
              <a:t>Mensajes claros y accesibles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960120" y="4434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03030"/>
                </a:solidFill>
              </a:rPr>
              <a:t>Reporte manual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4663440" y="44348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03030"/>
                </a:solidFill>
              </a:rPr>
              <a:t>Generar tablero de seguimiento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8641080" y="4434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03030"/>
                </a:solidFill>
              </a:rPr>
              <a:t>Consulta en menos de 3 segundos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320040" y="6528816"/>
            <a:ext cx="1156716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658368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Curso integrador II: software (100000S12F) · Semana 2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411712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0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TRANSFORMACIÓN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64008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 funcional bien escrito</a:t>
            </a:r>
            <a:endParaRPr lang="en-US" sz="2700" dirty="0"/>
          </a:p>
        </p:txBody>
      </p:sp>
      <p:pic>
        <p:nvPicPr>
          <p:cNvPr id="4" name="Image 0" descr="/mnt/data/f0119b7b-3c97-4236-9102-a90e0a5f2e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56" y="164592"/>
            <a:ext cx="1664208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29844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</a:rPr>
              <a:t>Un RF describe una acción que el sistema debe permitir o ejecutar.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777240" y="2084832"/>
            <a:ext cx="2468880" cy="1234440"/>
          </a:xfrm>
          <a:prstGeom prst="roundRect">
            <a:avLst>
              <a:gd name="adj" fmla="val 8889"/>
            </a:avLst>
          </a:prstGeom>
          <a:solidFill>
            <a:srgbClr val="C0003B"/>
          </a:solidFill>
          <a:ln w="13970">
            <a:solidFill>
              <a:srgbClr val="C000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05256" y="2194560"/>
            <a:ext cx="2212848" cy="1014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ID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RF-001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11880" y="2084832"/>
            <a:ext cx="24688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3970">
            <a:solidFill>
              <a:srgbClr val="D0D0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39896" y="2194560"/>
            <a:ext cx="2212848" cy="1014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Actor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Estudiante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46520" y="2084832"/>
            <a:ext cx="24688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3970">
            <a:solidFill>
              <a:srgbClr val="D0D0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74536" y="2194560"/>
            <a:ext cx="2212848" cy="1014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Acción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Registrar solicitud de soporte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281160" y="2084832"/>
            <a:ext cx="24688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3970">
            <a:solidFill>
              <a:srgbClr val="D0D0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09176" y="2194560"/>
            <a:ext cx="2212848" cy="1014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Criterio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Genera código único y estado “Registrado”.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77240" y="3703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003B"/>
                </a:solidFill>
              </a:rPr>
              <a:t>Plantilla: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822960" y="4069080"/>
            <a:ext cx="10149840" cy="777240"/>
          </a:xfrm>
          <a:prstGeom prst="roundRect">
            <a:avLst>
              <a:gd name="adj" fmla="val 14118"/>
            </a:avLst>
          </a:prstGeom>
          <a:solidFill>
            <a:srgbClr val="FCE7EE"/>
          </a:solidFill>
          <a:ln w="13970">
            <a:solidFill>
              <a:srgbClr val="C0003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50976" y="4178808"/>
            <a:ext cx="9893808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El sistema debe permitir que [actor] realice [acción] para lograr [beneficio], validando [condición verificable].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005840" y="525780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77777"/>
                </a:solidFill>
              </a:rPr>
              <a:t>Evitar frases vagas: “debe ser bueno”, “debe funcionar rápido”, “debe ser amigable”.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20040" y="6528816"/>
            <a:ext cx="1156716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658368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Curso integrador II: software (100000S12F) · Semana 2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411712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0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TRANSFORMACIÓN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64008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 no funcional medible</a:t>
            </a:r>
            <a:endParaRPr lang="en-US" sz="2700" dirty="0"/>
          </a:p>
        </p:txBody>
      </p:sp>
      <p:pic>
        <p:nvPicPr>
          <p:cNvPr id="4" name="Image 0" descr="/mnt/data/f0119b7b-3c97-4236-9102-a90e0a5f2e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56" y="164592"/>
            <a:ext cx="1664208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29844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Un RNF describe la calidad esperada del sistema: rendimiento, seguridad, usabilidad, disponibilidad, etc.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77240" y="2148840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3970">
            <a:solidFill>
              <a:srgbClr val="D0D0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05256" y="2258568"/>
            <a:ext cx="2212848" cy="1197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</a:rPr>
              <a:t>Categoría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</a:rPr>
              <a:t>Rendimiento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3611880" y="2148840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3970">
            <a:solidFill>
              <a:srgbClr val="D0D0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39896" y="2258568"/>
            <a:ext cx="2212848" cy="1197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</a:rPr>
              <a:t>Descripción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</a:rPr>
              <a:t>Las consultas deben responder rápido.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446520" y="2148840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FCE7EE"/>
          </a:solidFill>
          <a:ln w="13970">
            <a:solidFill>
              <a:srgbClr val="C000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74536" y="2258568"/>
            <a:ext cx="2212848" cy="1197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</a:rPr>
              <a:t>Métrica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</a:rPr>
              <a:t>Menos de 3 segundos con 500 registros.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9281160" y="2148840"/>
            <a:ext cx="24688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3970">
            <a:solidFill>
              <a:srgbClr val="D0D0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09176" y="2258568"/>
            <a:ext cx="2212848" cy="1197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</a:rPr>
              <a:t>Validación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</a:rPr>
              <a:t>Prueba con datos simulados.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22960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003B"/>
                </a:solidFill>
              </a:rPr>
              <a:t>Pregunta clave: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3063240" y="4187952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</a:rPr>
              <a:t>¿Cómo sabré que este requisito se cumplió?</a:t>
            </a:r>
            <a:endParaRPr lang="en-US" sz="2500" dirty="0"/>
          </a:p>
        </p:txBody>
      </p:sp>
      <p:sp>
        <p:nvSpPr>
          <p:cNvPr id="16" name="Shape 13"/>
          <p:cNvSpPr/>
          <p:nvPr/>
        </p:nvSpPr>
        <p:spPr>
          <a:xfrm>
            <a:off x="2286000" y="4983480"/>
            <a:ext cx="7498080" cy="640080"/>
          </a:xfrm>
          <a:prstGeom prst="roundRect">
            <a:avLst>
              <a:gd name="adj" fmla="val 17143"/>
            </a:avLst>
          </a:prstGeom>
          <a:solidFill>
            <a:srgbClr val="000000"/>
          </a:solidFill>
          <a:ln w="13970">
            <a:solidFill>
              <a:srgbClr val="0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414016" y="5093208"/>
            <a:ext cx="724204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Si no se puede medir, todavía no está listo para el proyecto integrador.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320040" y="6528816"/>
            <a:ext cx="1156716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658368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Curso integrador II: software (100000S12F) · Semana 2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411712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0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TRANSFORMACIÓN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64008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mínimas de Semana 2</a:t>
            </a:r>
            <a:endParaRPr lang="en-US" sz="2700" dirty="0"/>
          </a:p>
        </p:txBody>
      </p:sp>
      <p:pic>
        <p:nvPicPr>
          <p:cNvPr id="4" name="Image 0" descr="/mnt/data/f0119b7b-3c97-4236-9102-a90e0a5f2e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56" y="164592"/>
            <a:ext cx="1664208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1508760"/>
            <a:ext cx="5029200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32104" y="1673352"/>
            <a:ext cx="384048" cy="384048"/>
          </a:xfrm>
          <a:prstGeom prst="ellipse">
            <a:avLst/>
          </a:prstGeom>
          <a:solidFill>
            <a:srgbClr val="C0003B"/>
          </a:solidFill>
          <a:ln w="12700">
            <a:solidFill>
              <a:srgbClr val="C000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2104" y="17739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325880" y="164592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Gestión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25880" y="1984248"/>
            <a:ext cx="4251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03030"/>
                </a:solidFill>
              </a:rPr>
              <a:t>Trello, Jira o GitHub Projects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03030"/>
                </a:solidFill>
              </a:rPr>
              <a:t>Backlog, tareas, responsables.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508760"/>
            <a:ext cx="5029200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9944" y="1673352"/>
            <a:ext cx="384048" cy="384048"/>
          </a:xfrm>
          <a:prstGeom prst="ellipse">
            <a:avLst/>
          </a:prstGeom>
          <a:solidFill>
            <a:srgbClr val="C0003B"/>
          </a:solidFill>
          <a:ln w="12700">
            <a:solidFill>
              <a:srgbClr val="C000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9944" y="17739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903720" y="164592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Repositorio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903720" y="1984248"/>
            <a:ext cx="4251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03030"/>
                </a:solidFill>
              </a:rPr>
              <a:t>GitHub o GitLab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03030"/>
                </a:solidFill>
              </a:rPr>
              <a:t>Ramas, commits y evidencias.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85800" y="3429000"/>
            <a:ext cx="5029200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2104" y="3593592"/>
            <a:ext cx="384048" cy="384048"/>
          </a:xfrm>
          <a:prstGeom prst="ellipse">
            <a:avLst/>
          </a:prstGeom>
          <a:solidFill>
            <a:srgbClr val="C0003B"/>
          </a:solidFill>
          <a:ln w="12700">
            <a:solidFill>
              <a:srgbClr val="C0003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" y="369417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325880" y="356616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Prototipo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325880" y="3904488"/>
            <a:ext cx="4251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03030"/>
                </a:solidFill>
              </a:rPr>
              <a:t>Figma, Balsamiq o draw.io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03030"/>
                </a:solidFill>
              </a:rPr>
              <a:t>Wireframes y mockups.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3429000"/>
            <a:ext cx="5029200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9944" y="3593592"/>
            <a:ext cx="384048" cy="384048"/>
          </a:xfrm>
          <a:prstGeom prst="ellipse">
            <a:avLst/>
          </a:prstGeom>
          <a:solidFill>
            <a:srgbClr val="C0003B"/>
          </a:solidFill>
          <a:ln w="12700">
            <a:solidFill>
              <a:srgbClr val="C0003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9944" y="369417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903720" y="356616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Desarrollo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903720" y="3904488"/>
            <a:ext cx="4251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03030"/>
                </a:solidFill>
              </a:rPr>
              <a:t>IDE + entorno local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03030"/>
                </a:solidFill>
              </a:rPr>
              <a:t>Java, contenedores o cloud.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22960" y="55321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0003B"/>
                </a:solidFill>
              </a:rPr>
              <a:t>Evidencia que deben mostrar: enlace al repositorio, tablero del Sprint 1, captura del prototipo o diagrama.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320040" y="6528816"/>
            <a:ext cx="1156716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0040" y="658368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Curso integrador II: software (100000S12F) · Semana 2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1411712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0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PRÁCTICA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64008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1: dibujar el AS-IS</a:t>
            </a:r>
            <a:endParaRPr lang="en-US" sz="2700" dirty="0"/>
          </a:p>
        </p:txBody>
      </p:sp>
      <p:pic>
        <p:nvPicPr>
          <p:cNvPr id="4" name="Image 0" descr="/mnt/data/f0119b7b-3c97-4236-9102-a90e0a5f2e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56" y="164592"/>
            <a:ext cx="1664208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325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Instrucción para equipos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68680" y="1920240"/>
            <a:ext cx="347472" cy="347472"/>
          </a:xfrm>
          <a:prstGeom prst="ellipse">
            <a:avLst/>
          </a:prstGeom>
          <a:solidFill>
            <a:srgbClr val="C0003B"/>
          </a:solidFill>
          <a:ln w="12700">
            <a:solidFill>
              <a:srgbClr val="C000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201168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417320" y="189280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303030"/>
                </a:solidFill>
              </a:rPr>
              <a:t>Elijan un proceso real del proyecto.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868680" y="2542032"/>
            <a:ext cx="347472" cy="347472"/>
          </a:xfrm>
          <a:prstGeom prst="ellipse">
            <a:avLst/>
          </a:prstGeom>
          <a:solidFill>
            <a:srgbClr val="C0003B"/>
          </a:solidFill>
          <a:ln w="12700">
            <a:solidFill>
              <a:srgbClr val="C000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633472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417320" y="251460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303030"/>
                </a:solidFill>
              </a:rPr>
              <a:t>Identifiquen actores y canales actuales.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868680" y="3163824"/>
            <a:ext cx="347472" cy="347472"/>
          </a:xfrm>
          <a:prstGeom prst="ellipse">
            <a:avLst/>
          </a:prstGeom>
          <a:solidFill>
            <a:srgbClr val="C0003B"/>
          </a:solidFill>
          <a:ln w="12700">
            <a:solidFill>
              <a:srgbClr val="C0003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3255264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417320" y="313639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303030"/>
                </a:solidFill>
              </a:rPr>
              <a:t>Escriban 6 a 10 pasos reales, sin inventar sistema.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868680" y="3785616"/>
            <a:ext cx="347472" cy="347472"/>
          </a:xfrm>
          <a:prstGeom prst="ellipse">
            <a:avLst/>
          </a:prstGeom>
          <a:solidFill>
            <a:srgbClr val="C0003B"/>
          </a:solidFill>
          <a:ln w="12700">
            <a:solidFill>
              <a:srgbClr val="C0003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3877056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417320" y="375818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303030"/>
                </a:solidFill>
              </a:rPr>
              <a:t>Marquen problemas: demora, error, pérdida, duplicidad.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868680" y="4407408"/>
            <a:ext cx="347472" cy="347472"/>
          </a:xfrm>
          <a:prstGeom prst="ellipse">
            <a:avLst/>
          </a:prstGeom>
          <a:solidFill>
            <a:srgbClr val="C0003B"/>
          </a:solidFill>
          <a:ln w="12700">
            <a:solidFill>
              <a:srgbClr val="C0003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4498848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417320" y="43799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303030"/>
                </a:solidFill>
              </a:rPr>
              <a:t>Conecten cada dolor con una posible mejora TO-BE.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7543800" y="2011680"/>
            <a:ext cx="3383280" cy="1005840"/>
          </a:xfrm>
          <a:prstGeom prst="roundRect">
            <a:avLst>
              <a:gd name="adj" fmla="val 10909"/>
            </a:avLst>
          </a:prstGeom>
          <a:solidFill>
            <a:srgbClr val="FCE7EE"/>
          </a:solidFill>
          <a:ln w="13970">
            <a:solidFill>
              <a:srgbClr val="C0003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71816" y="2121408"/>
            <a:ext cx="3127248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Entregable: diagrama AS-IS + lista de dolores.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7543800" y="3429000"/>
            <a:ext cx="3383280" cy="1005840"/>
          </a:xfrm>
          <a:prstGeom prst="roundRect">
            <a:avLst>
              <a:gd name="adj" fmla="val 10909"/>
            </a:avLst>
          </a:prstGeom>
          <a:solidFill>
            <a:srgbClr val="000000"/>
          </a:solidFill>
          <a:ln w="13970">
            <a:solidFill>
              <a:srgbClr val="00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71816" y="3538728"/>
            <a:ext cx="3127248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Tiempo sugerido: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25 minutos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320040" y="6528816"/>
            <a:ext cx="1156716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20040" y="658368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Curso integrador II: software (100000S12F) · Semana 2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1411712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0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PRÁCTICA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64008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2: levantar RF y RNF</a:t>
            </a:r>
            <a:endParaRPr lang="en-US" sz="2700" dirty="0"/>
          </a:p>
        </p:txBody>
      </p:sp>
      <p:pic>
        <p:nvPicPr>
          <p:cNvPr id="4" name="Image 0" descr="/mnt/data/f0119b7b-3c97-4236-9102-a90e0a5f2e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56" y="164592"/>
            <a:ext cx="1664208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325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</a:rPr>
              <a:t>Cada dolor debe producir al menos un requisito.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011680"/>
            <a:ext cx="2560320" cy="640080"/>
          </a:xfrm>
          <a:prstGeom prst="roundRect">
            <a:avLst>
              <a:gd name="adj" fmla="val 17143"/>
            </a:avLst>
          </a:prstGeom>
          <a:solidFill>
            <a:srgbClr val="C0003B"/>
          </a:solidFill>
          <a:ln w="13970">
            <a:solidFill>
              <a:srgbClr val="C000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50976" y="2121408"/>
            <a:ext cx="2304288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Mínimo por equipo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3657600" y="2011680"/>
            <a:ext cx="2011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3970">
            <a:solidFill>
              <a:srgbClr val="D0D0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85616" y="2121408"/>
            <a:ext cx="1755648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</a:rPr>
              <a:t>10 RF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</a:rPr>
              <a:t>funcionales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035040" y="2011680"/>
            <a:ext cx="2011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3970">
            <a:solidFill>
              <a:srgbClr val="D0D0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63056" y="2121408"/>
            <a:ext cx="1755648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</a:rPr>
              <a:t>8 RNF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</a:rPr>
              <a:t>medibles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412480" y="2011680"/>
            <a:ext cx="2011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3970">
            <a:solidFill>
              <a:srgbClr val="D0D0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40496" y="2121408"/>
            <a:ext cx="1755648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</a:rPr>
              <a:t>5 HU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</a:rPr>
              <a:t>priorizadas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82296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003B"/>
                </a:solidFill>
              </a:rPr>
              <a:t>Criterio de aceptación obligatorio: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2296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</a:rPr>
              <a:t>Dado / Cuando / Entonces</a:t>
            </a:r>
            <a:endParaRPr lang="en-US" sz="3000" dirty="0"/>
          </a:p>
        </p:txBody>
      </p:sp>
      <p:sp>
        <p:nvSpPr>
          <p:cNvPr id="16" name="Shape 13"/>
          <p:cNvSpPr/>
          <p:nvPr/>
        </p:nvSpPr>
        <p:spPr>
          <a:xfrm>
            <a:off x="822960" y="4754880"/>
            <a:ext cx="9966960" cy="777240"/>
          </a:xfrm>
          <a:prstGeom prst="roundRect">
            <a:avLst>
              <a:gd name="adj" fmla="val 14118"/>
            </a:avLst>
          </a:prstGeom>
          <a:solidFill>
            <a:srgbClr val="FCE7EE"/>
          </a:solidFill>
          <a:ln w="13970">
            <a:solidFill>
              <a:srgbClr val="C0003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50976" y="4864608"/>
            <a:ext cx="9710928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00000"/>
                </a:solidFill>
              </a:rPr>
              <a:t>Ejemplo: Dado un estudiante autenticado, cuando envía una solicitud completa, entonces el sistema genera código único y estado “Registrado”.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320040" y="6528816"/>
            <a:ext cx="1156716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658368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Curso integrador II: software (100000S12F) · Semana 2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411712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0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PRÁCTICA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64008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3: proponer TO-BE</a:t>
            </a:r>
            <a:endParaRPr lang="en-US" sz="2700" dirty="0"/>
          </a:p>
        </p:txBody>
      </p:sp>
      <p:pic>
        <p:nvPicPr>
          <p:cNvPr id="4" name="Image 0" descr="/mnt/data/f0119b7b-3c97-4236-9102-a90e0a5f2e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56" y="164592"/>
            <a:ext cx="1664208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075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000000"/>
                </a:solidFill>
              </a:rPr>
              <a:t>TO-BE no es “poner una app”. Es rediseñar el flujo con responsables, estados y evidencias.</a:t>
            </a:r>
            <a:endParaRPr lang="en-US" sz="2050" dirty="0"/>
          </a:p>
        </p:txBody>
      </p:sp>
      <p:sp>
        <p:nvSpPr>
          <p:cNvPr id="6" name="Shape 3"/>
          <p:cNvSpPr/>
          <p:nvPr/>
        </p:nvSpPr>
        <p:spPr>
          <a:xfrm>
            <a:off x="548640" y="2560320"/>
            <a:ext cx="1965960" cy="1143000"/>
          </a:xfrm>
          <a:prstGeom prst="roundRect">
            <a:avLst>
              <a:gd name="adj" fmla="val 9600"/>
            </a:avLst>
          </a:prstGeom>
          <a:solidFill>
            <a:srgbClr val="C0003B"/>
          </a:solidFill>
          <a:ln w="13970">
            <a:solidFill>
              <a:srgbClr val="C000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" y="2670048"/>
            <a:ext cx="1709928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Registro web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Campos obligatorios y código único.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2542032" y="3127248"/>
            <a:ext cx="274320" cy="0"/>
          </a:xfrm>
          <a:prstGeom prst="line">
            <a:avLst/>
          </a:prstGeom>
          <a:noFill/>
          <a:ln w="21590">
            <a:solidFill>
              <a:srgbClr val="C0003B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862072" y="2560320"/>
            <a:ext cx="19659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3970">
            <a:solidFill>
              <a:srgbClr val="D0D0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90088" y="2670048"/>
            <a:ext cx="1709928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</a:rPr>
              <a:t>Asignación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</a:rPr>
              <a:t>Responsable y prioridad visibles.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855464" y="3127248"/>
            <a:ext cx="274320" cy="0"/>
          </a:xfrm>
          <a:prstGeom prst="line">
            <a:avLst/>
          </a:prstGeom>
          <a:noFill/>
          <a:ln w="21590">
            <a:solidFill>
              <a:srgbClr val="C0003B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175504" y="2560320"/>
            <a:ext cx="19659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3970">
            <a:solidFill>
              <a:srgbClr val="D0D0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03520" y="2670048"/>
            <a:ext cx="1709928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</a:rPr>
              <a:t>Atención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</a:rPr>
              <a:t>Estados y comentarios.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168896" y="3127248"/>
            <a:ext cx="274320" cy="0"/>
          </a:xfrm>
          <a:prstGeom prst="line">
            <a:avLst/>
          </a:prstGeom>
          <a:noFill/>
          <a:ln w="21590">
            <a:solidFill>
              <a:srgbClr val="C0003B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488936" y="2560320"/>
            <a:ext cx="19659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3970">
            <a:solidFill>
              <a:srgbClr val="D0D0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16952" y="2670048"/>
            <a:ext cx="1709928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</a:rPr>
              <a:t>Seguimiento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</a:rPr>
              <a:t>Consulta y notificaciones.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9482328" y="3127248"/>
            <a:ext cx="274320" cy="0"/>
          </a:xfrm>
          <a:prstGeom prst="line">
            <a:avLst/>
          </a:prstGeom>
          <a:noFill/>
          <a:ln w="21590">
            <a:solidFill>
              <a:srgbClr val="C0003B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9802368" y="2560320"/>
            <a:ext cx="19659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3970">
            <a:solidFill>
              <a:srgbClr val="D0D0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930384" y="2670048"/>
            <a:ext cx="1709928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</a:rPr>
              <a:t>Reporte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</a:rPr>
              <a:t>Indicadores y exportación.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960120" y="4709160"/>
            <a:ext cx="10058400" cy="82296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 w="13970">
            <a:solidFill>
              <a:srgbClr val="00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88136" y="4818888"/>
            <a:ext cx="980236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Regla de revisión: cada paso TO-BE debe responder a un dolor AS-IS y conectarse con al menos un RF.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320040" y="6528816"/>
            <a:ext cx="1156716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658368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Curso integrador II: software (100000S12F) · Semana 2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411712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0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PRÁCTICA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64008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Planificación rápida del Sprint 1</a:t>
            </a:r>
            <a:endParaRPr lang="en-US" sz="2700" dirty="0"/>
          </a:p>
        </p:txBody>
      </p:sp>
      <p:pic>
        <p:nvPicPr>
          <p:cNvPr id="4" name="Image 0" descr="/mnt/data/f0119b7b-3c97-4236-9102-a90e0a5f2e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56" y="164592"/>
            <a:ext cx="1664208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155448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32104" y="1719072"/>
            <a:ext cx="384048" cy="384048"/>
          </a:xfrm>
          <a:prstGeom prst="ellipse">
            <a:avLst/>
          </a:prstGeom>
          <a:solidFill>
            <a:srgbClr val="C0003B"/>
          </a:solidFill>
          <a:ln w="12700">
            <a:solidFill>
              <a:srgbClr val="C000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2104" y="181965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325880" y="169164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Product Owner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25880" y="2029968"/>
            <a:ext cx="4251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03030"/>
                </a:solidFill>
              </a:rPr>
              <a:t>Ordena el backlog y aclara el valor del negocio.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55448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9944" y="1719072"/>
            <a:ext cx="384048" cy="384048"/>
          </a:xfrm>
          <a:prstGeom prst="ellipse">
            <a:avLst/>
          </a:prstGeom>
          <a:solidFill>
            <a:srgbClr val="C0003B"/>
          </a:solidFill>
          <a:ln w="12700">
            <a:solidFill>
              <a:srgbClr val="C000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9944" y="181965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903720" y="169164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Scrum Master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903720" y="2029968"/>
            <a:ext cx="4251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03030"/>
                </a:solidFill>
              </a:rPr>
              <a:t>Cuida acuerdos, bloqueos y tiempos.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85800" y="338328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2104" y="3547872"/>
            <a:ext cx="384048" cy="384048"/>
          </a:xfrm>
          <a:prstGeom prst="ellipse">
            <a:avLst/>
          </a:prstGeom>
          <a:solidFill>
            <a:srgbClr val="C0003B"/>
          </a:solidFill>
          <a:ln w="12700">
            <a:solidFill>
              <a:srgbClr val="C0003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" y="364845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325880" y="352044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Equipo dev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325880" y="3858768"/>
            <a:ext cx="4251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03030"/>
                </a:solidFill>
              </a:rPr>
              <a:t>Convierte requisitos en tareas y prototipos.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338328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9944" y="3547872"/>
            <a:ext cx="384048" cy="384048"/>
          </a:xfrm>
          <a:prstGeom prst="ellipse">
            <a:avLst/>
          </a:prstGeom>
          <a:solidFill>
            <a:srgbClr val="C0003B"/>
          </a:solidFill>
          <a:ln w="12700">
            <a:solidFill>
              <a:srgbClr val="C0003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9944" y="364845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903720" y="352044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Sprint 1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903720" y="3858768"/>
            <a:ext cx="4251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03030"/>
                </a:solidFill>
              </a:rPr>
              <a:t>RF críticos + AS-IS + prototipo inicial + evidencias.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914400" y="5532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3B"/>
                </a:solidFill>
              </a:rPr>
              <a:t>Salida de la clase: tablero con tareas, responsables y fechas visibles.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320040" y="6528816"/>
            <a:ext cx="1156716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0040" y="658368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Curso integrador II: software (100000S12F) · Semana 2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11411712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0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64008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antes de entregar</a:t>
            </a:r>
            <a:endParaRPr lang="en-US" sz="2700" dirty="0"/>
          </a:p>
        </p:txBody>
      </p:sp>
      <p:pic>
        <p:nvPicPr>
          <p:cNvPr id="4" name="Image 0" descr="/mnt/data/f0119b7b-3c97-4236-9102-a90e0a5f2e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56" y="164592"/>
            <a:ext cx="1664208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417320"/>
            <a:ext cx="10241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15727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3B"/>
                </a:solidFill>
              </a:rPr>
              <a:t>AS-IS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154680" y="1572768"/>
            <a:ext cx="7360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3030"/>
                </a:solidFill>
              </a:rPr>
              <a:t>Actores + 6 pasos + herramientas actuales + dolores.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167128"/>
            <a:ext cx="1024128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232257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3B"/>
                </a:solidFill>
              </a:rPr>
              <a:t>RF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154680" y="2322576"/>
            <a:ext cx="7360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3030"/>
                </a:solidFill>
              </a:rPr>
              <a:t>ID + actor + acción + criterio de aceptación.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22960" y="2916936"/>
            <a:ext cx="10241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51560" y="30723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3B"/>
                </a:solidFill>
              </a:rPr>
              <a:t>RNF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154680" y="3072384"/>
            <a:ext cx="7360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3030"/>
                </a:solidFill>
              </a:rPr>
              <a:t>Categoría + métrica + validación.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22960" y="3666744"/>
            <a:ext cx="10241280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1560" y="38221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3B"/>
                </a:solidFill>
              </a:rPr>
              <a:t>TO-BE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154680" y="3822192"/>
            <a:ext cx="7360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3030"/>
                </a:solidFill>
              </a:rPr>
              <a:t>Flujo mejorado conectado con dolores y RF.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22960" y="4416552"/>
            <a:ext cx="10241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51560" y="45720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3B"/>
                </a:solidFill>
              </a:rPr>
              <a:t>Herramientas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154680" y="4572000"/>
            <a:ext cx="7360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3030"/>
                </a:solidFill>
              </a:rPr>
              <a:t>Repositorio + tablero + prototipo + entorno.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417320" y="5486400"/>
            <a:ext cx="9326880" cy="566928"/>
          </a:xfrm>
          <a:prstGeom prst="roundRect">
            <a:avLst>
              <a:gd name="adj" fmla="val 19355"/>
            </a:avLst>
          </a:prstGeom>
          <a:solidFill>
            <a:srgbClr val="FCE7EE"/>
          </a:solidFill>
          <a:ln w="13970">
            <a:solidFill>
              <a:srgbClr val="C0003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545336" y="5596128"/>
            <a:ext cx="907084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</a:rPr>
              <a:t>Ticket de salida: escribe 1 dolor AS-IS, 1 RF, 1 RNF y 1 mejora TO-BE.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320040" y="6528816"/>
            <a:ext cx="1156716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658368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Curso integrador II: software (100000S12F) · Semana 2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1411712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0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640080"/>
            <a:ext cx="9601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Archivos entregados</a:t>
            </a:r>
            <a:endParaRPr lang="en-US" sz="2700" dirty="0"/>
          </a:p>
        </p:txBody>
      </p:sp>
      <p:pic>
        <p:nvPicPr>
          <p:cNvPr id="4" name="Image 0" descr="/mnt/data/f0119b7b-3c97-4236-9102-a90e0a5f2e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56" y="164592"/>
            <a:ext cx="1664208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2801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Materiales para trabajar la sesión y dejar evidencia.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777240" y="1828800"/>
            <a:ext cx="50749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23544" y="1993392"/>
            <a:ext cx="384048" cy="384048"/>
          </a:xfrm>
          <a:prstGeom prst="ellipse">
            <a:avLst/>
          </a:prstGeom>
          <a:solidFill>
            <a:srgbClr val="C0003B"/>
          </a:solidFill>
          <a:ln w="12700">
            <a:solidFill>
              <a:srgbClr val="C000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23544" y="209397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17320" y="19659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PPT de clase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417320" y="2304288"/>
            <a:ext cx="42976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03030"/>
                </a:solidFill>
              </a:rPr>
              <a:t>Secuencia guiada: AS-IS, dolores, RF/RNF, TO-BE y cierre.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63640" y="1828800"/>
            <a:ext cx="50749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9944" y="1993392"/>
            <a:ext cx="384048" cy="384048"/>
          </a:xfrm>
          <a:prstGeom prst="ellipse">
            <a:avLst/>
          </a:prstGeom>
          <a:solidFill>
            <a:srgbClr val="C0003B"/>
          </a:solidFill>
          <a:ln w="12700">
            <a:solidFill>
              <a:srgbClr val="C0003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9944" y="209397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903720" y="19659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Excel de requerimientos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903720" y="2304288"/>
            <a:ext cx="42976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03030"/>
                </a:solidFill>
              </a:rPr>
              <a:t>Plantillas editables: RF, RNF, AS-IS, historias y checklist.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77240" y="3429000"/>
            <a:ext cx="50749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23544" y="3593592"/>
            <a:ext cx="384048" cy="384048"/>
          </a:xfrm>
          <a:prstGeom prst="ellipse">
            <a:avLst/>
          </a:prstGeom>
          <a:solidFill>
            <a:srgbClr val="C0003B"/>
          </a:solidFill>
          <a:ln w="12700">
            <a:solidFill>
              <a:srgbClr val="C000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23544" y="369417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417320" y="35661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Diagrama AS-IS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417320" y="3904488"/>
            <a:ext cx="42976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03030"/>
                </a:solidFill>
              </a:rPr>
              <a:t>Modelo visual del proceso actual para que los equipos construyan su TO-BE.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263640" y="3429000"/>
            <a:ext cx="50749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9944" y="3593592"/>
            <a:ext cx="384048" cy="384048"/>
          </a:xfrm>
          <a:prstGeom prst="ellipse">
            <a:avLst/>
          </a:prstGeom>
          <a:solidFill>
            <a:srgbClr val="C0003B"/>
          </a:solidFill>
          <a:ln w="12700">
            <a:solidFill>
              <a:srgbClr val="C0003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9944" y="369417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903720" y="35661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Recomendación UTP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903720" y="3904488"/>
            <a:ext cx="42976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03030"/>
                </a:solidFill>
              </a:rPr>
              <a:t>Usar la plantilla institucional de presentaciones cuando preparen sustentación.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828800" y="54864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3B"/>
                </a:solidFill>
              </a:rPr>
              <a:t>Plantilla UTP sugerida: https://goo.su/rzFQo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320040" y="6528816"/>
            <a:ext cx="1156716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0040" y="6583680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Curso integrador II: software (100000S12F) · Semana 2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1411712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77777"/>
                </a:solidFill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Universidad Tecnológica del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2 - AS-IS, TO-BE y Requerimientos</dc:title>
  <dc:subject>Curso integrador II: software - Semana 2</dc:subject>
  <dc:creator>UTP</dc:creator>
  <cp:lastModifiedBy>UTP</cp:lastModifiedBy>
  <cp:revision>1</cp:revision>
  <dcterms:created xsi:type="dcterms:W3CDTF">2026-08-21T01:07:09Z</dcterms:created>
  <dcterms:modified xsi:type="dcterms:W3CDTF">2026-08-21T01:07:09Z</dcterms:modified>
</cp:coreProperties>
</file>