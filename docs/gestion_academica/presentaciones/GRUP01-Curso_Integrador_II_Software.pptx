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Agrandir Wide Bold" charset="1" panose="00000805000000000000"/>
      <p:regular r:id="rId36"/>
    </p:embeddedFont>
    <p:embeddedFont>
      <p:font typeface="Nunito" charset="1" panose="00000000000000000000"/>
      <p:regular r:id="rId37"/>
    </p:embeddedFont>
    <p:embeddedFont>
      <p:font typeface="Nunito Bold" charset="1" panose="00000000000000000000"/>
      <p:regular r:id="rId38"/>
    </p:embeddedFont>
    <p:embeddedFont>
      <p:font typeface="League Spartan" charset="1" panose="00000800000000000000"/>
      <p:regular r:id="rId39"/>
    </p:embeddedFont>
    <p:embeddedFont>
      <p:font typeface="Arimo" charset="1" panose="020B0604020202020204"/>
      <p:regular r:id="rId40"/>
    </p:embeddedFont>
    <p:embeddedFont>
      <p:font typeface="HK Grotesk" charset="1" panose="00000500000000000000"/>
      <p:regular r:id="rId41"/>
    </p:embeddedFont>
    <p:embeddedFont>
      <p:font typeface="Open Sans" charset="1" panose="020B0606030504020204"/>
      <p:regular r:id="rId42"/>
    </p:embeddedFont>
    <p:embeddedFont>
      <p:font typeface="Lato Bold" charset="1" panose="020F0502020204030203"/>
      <p:regular r:id="rId43"/>
    </p:embeddedFont>
    <p:embeddedFont>
      <p:font typeface="Lato" charset="1" panose="020F0502020204030203"/>
      <p:regular r:id="rId44"/>
    </p:embeddedFont>
    <p:embeddedFont>
      <p:font typeface="Segoe UI Bold" charset="1" panose="020B0802040204020203"/>
      <p:regular r:id="rId45"/>
    </p:embeddedFont>
    <p:embeddedFont>
      <p:font typeface="Segoe UI" charset="1" panose="020B0502040204020203"/>
      <p:regular r:id="rId46"/>
    </p:embeddedFont>
    <p:embeddedFont>
      <p:font typeface="Calibri (MS) Bold" charset="1" panose="020F0702030404030204"/>
      <p:regular r:id="rId47"/>
    </p:embeddedFont>
    <p:embeddedFont>
      <p:font typeface="Calibri (MS)" charset="1" panose="020F0502020204030204"/>
      <p:regular r:id="rId48"/>
    </p:embeddedFont>
    <p:embeddedFont>
      <p:font typeface="Consolas" charset="1" panose="020B0609020204030204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https://leofit-solutions-grupo01.github.io/leofit-pedidos-sistema/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embeddings/oleObject4.bin" Type="http://schemas.openxmlformats.org/officeDocument/2006/relationships/oleObjec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2.jpe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47961" y="2420578"/>
            <a:ext cx="5707379" cy="5707379"/>
          </a:xfrm>
          <a:custGeom>
            <a:avLst/>
            <a:gdLst/>
            <a:ahLst/>
            <a:cxnLst/>
            <a:rect r="r" b="b" t="t" l="l"/>
            <a:pathLst>
              <a:path h="5707379" w="5707379">
                <a:moveTo>
                  <a:pt x="0" y="0"/>
                </a:moveTo>
                <a:lnTo>
                  <a:pt x="5707378" y="0"/>
                </a:lnTo>
                <a:lnTo>
                  <a:pt x="5707378" y="5707379"/>
                </a:lnTo>
                <a:lnTo>
                  <a:pt x="0" y="57073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120396"/>
            <a:ext cx="7560315" cy="286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26"/>
              </a:lnSpc>
            </a:pPr>
            <a:r>
              <a:rPr lang="en-US" sz="8971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EMPRESA</a:t>
            </a:r>
          </a:p>
          <a:p>
            <a:pPr algn="l">
              <a:lnSpc>
                <a:spcPts val="10226"/>
              </a:lnSpc>
            </a:pPr>
            <a:r>
              <a:rPr lang="en-US" sz="8971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LEOFIT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5033159"/>
            <a:ext cx="6556799" cy="726916"/>
            <a:chOff x="0" y="0"/>
            <a:chExt cx="8742399" cy="96922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742399" cy="969221"/>
              <a:chOff x="0" y="0"/>
              <a:chExt cx="1991148" cy="22074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91148" cy="220747"/>
              </a:xfrm>
              <a:custGeom>
                <a:avLst/>
                <a:gdLst/>
                <a:ahLst/>
                <a:cxnLst/>
                <a:rect r="r" b="b" t="t" l="l"/>
                <a:pathLst>
                  <a:path h="220747" w="1991148">
                    <a:moveTo>
                      <a:pt x="102404" y="0"/>
                    </a:moveTo>
                    <a:lnTo>
                      <a:pt x="1888744" y="0"/>
                    </a:lnTo>
                    <a:cubicBezTo>
                      <a:pt x="1945300" y="0"/>
                      <a:pt x="1991148" y="45848"/>
                      <a:pt x="1991148" y="102404"/>
                    </a:cubicBezTo>
                    <a:lnTo>
                      <a:pt x="1991148" y="118343"/>
                    </a:lnTo>
                    <a:cubicBezTo>
                      <a:pt x="1991148" y="145502"/>
                      <a:pt x="1980359" y="171549"/>
                      <a:pt x="1961155" y="190754"/>
                    </a:cubicBezTo>
                    <a:cubicBezTo>
                      <a:pt x="1941950" y="209959"/>
                      <a:pt x="1915903" y="220747"/>
                      <a:pt x="1888744" y="220747"/>
                    </a:cubicBezTo>
                    <a:lnTo>
                      <a:pt x="102404" y="220747"/>
                    </a:lnTo>
                    <a:cubicBezTo>
                      <a:pt x="75245" y="220747"/>
                      <a:pt x="49198" y="209959"/>
                      <a:pt x="29994" y="190754"/>
                    </a:cubicBezTo>
                    <a:cubicBezTo>
                      <a:pt x="10789" y="171549"/>
                      <a:pt x="0" y="145502"/>
                      <a:pt x="0" y="118343"/>
                    </a:cubicBezTo>
                    <a:lnTo>
                      <a:pt x="0" y="102404"/>
                    </a:lnTo>
                    <a:cubicBezTo>
                      <a:pt x="0" y="75245"/>
                      <a:pt x="10789" y="49198"/>
                      <a:pt x="29994" y="29994"/>
                    </a:cubicBezTo>
                    <a:cubicBezTo>
                      <a:pt x="49198" y="10789"/>
                      <a:pt x="75245" y="0"/>
                      <a:pt x="102404" y="0"/>
                    </a:cubicBezTo>
                    <a:close/>
                  </a:path>
                </a:pathLst>
              </a:custGeom>
              <a:ln w="38100" cap="rnd">
                <a:solidFill>
                  <a:srgbClr val="303870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0"/>
                <a:ext cx="1991148" cy="3159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7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34959" y="143502"/>
              <a:ext cx="8272481" cy="625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2"/>
                </a:lnSpc>
              </a:pPr>
              <a:r>
                <a:rPr lang="en-US" sz="2801">
                  <a:solidFill>
                    <a:srgbClr val="303870"/>
                  </a:solidFill>
                  <a:latin typeface="Nunito"/>
                  <a:ea typeface="Nunito"/>
                  <a:cs typeface="Nunito"/>
                  <a:sym typeface="Nunito"/>
                </a:rPr>
                <a:t>Gestión y Toma de Pedidos Multicanal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838992"/>
            <a:ext cx="7038280" cy="481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4"/>
              </a:lnSpc>
            </a:pPr>
            <a:r>
              <a:rPr lang="en-US" sz="281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Sistema Web PWA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075356"/>
            <a:ext cx="8115300" cy="275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63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Presentado por Grupo 1:</a:t>
            </a:r>
          </a:p>
          <a:p>
            <a:pPr algn="l" marL="569877" indent="-284939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Cárdenas Fernández Victor Leandro U19217414</a:t>
            </a:r>
          </a:p>
          <a:p>
            <a:pPr algn="l" marL="569877" indent="-284939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Dávila Morales, Jim Alessandro U18206081</a:t>
            </a:r>
          </a:p>
          <a:p>
            <a:pPr algn="l" marL="569877" indent="-284939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Loayza Rodriguez, Lady Luz U22221489</a:t>
            </a:r>
          </a:p>
          <a:p>
            <a:pPr algn="l" marL="569877" indent="-284939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Rojas Sanchez Daniel Enrique U21214627</a:t>
            </a:r>
          </a:p>
          <a:p>
            <a:pPr algn="l" marL="569877" indent="-284939" lvl="1">
              <a:lnSpc>
                <a:spcPts val="3695"/>
              </a:lnSpc>
              <a:buFont typeface="Arial"/>
              <a:buChar char="•"/>
            </a:pPr>
            <a:r>
              <a:rPr lang="en-US" sz="263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lang="en-US" sz="263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oman Delgado Harley Anthony  U21313032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647518"/>
            <a:ext cx="3483050" cy="762364"/>
          </a:xfrm>
          <a:custGeom>
            <a:avLst/>
            <a:gdLst/>
            <a:ahLst/>
            <a:cxnLst/>
            <a:rect r="r" b="b" t="t" l="l"/>
            <a:pathLst>
              <a:path h="762364" w="3483050">
                <a:moveTo>
                  <a:pt x="0" y="0"/>
                </a:moveTo>
                <a:lnTo>
                  <a:pt x="3483050" y="0"/>
                </a:lnTo>
                <a:lnTo>
                  <a:pt x="3483050" y="762364"/>
                </a:lnTo>
                <a:lnTo>
                  <a:pt x="0" y="76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55052" y="811530"/>
            <a:ext cx="1073508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"Año de la Esperanza y el Fortalecimiento de la Democracia"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3914" y="475141"/>
            <a:ext cx="7761937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EVIDENCIAS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89020" y="1977030"/>
            <a:ext cx="5648114" cy="6148345"/>
          </a:xfrm>
          <a:custGeom>
            <a:avLst/>
            <a:gdLst/>
            <a:ahLst/>
            <a:cxnLst/>
            <a:rect r="r" b="b" t="t" l="l"/>
            <a:pathLst>
              <a:path h="6148345" w="5648114">
                <a:moveTo>
                  <a:pt x="0" y="0"/>
                </a:moveTo>
                <a:lnTo>
                  <a:pt x="5648114" y="0"/>
                </a:lnTo>
                <a:lnTo>
                  <a:pt x="5648114" y="6148344"/>
                </a:lnTo>
                <a:lnTo>
                  <a:pt x="0" y="6148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11" t="-1351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34198" y="5143500"/>
            <a:ext cx="4575276" cy="4882421"/>
          </a:xfrm>
          <a:custGeom>
            <a:avLst/>
            <a:gdLst/>
            <a:ahLst/>
            <a:cxnLst/>
            <a:rect r="r" b="b" t="t" l="l"/>
            <a:pathLst>
              <a:path h="4882421" w="4575276">
                <a:moveTo>
                  <a:pt x="0" y="0"/>
                </a:moveTo>
                <a:lnTo>
                  <a:pt x="4575275" y="0"/>
                </a:lnTo>
                <a:lnTo>
                  <a:pt x="4575275" y="4882421"/>
                </a:lnTo>
                <a:lnTo>
                  <a:pt x="0" y="48824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6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88976" y="513282"/>
            <a:ext cx="6568651" cy="5090198"/>
          </a:xfrm>
          <a:custGeom>
            <a:avLst/>
            <a:gdLst/>
            <a:ahLst/>
            <a:cxnLst/>
            <a:rect r="r" b="b" t="t" l="l"/>
            <a:pathLst>
              <a:path h="5090198" w="6568651">
                <a:moveTo>
                  <a:pt x="0" y="0"/>
                </a:moveTo>
                <a:lnTo>
                  <a:pt x="6568652" y="0"/>
                </a:lnTo>
                <a:lnTo>
                  <a:pt x="6568652" y="5090198"/>
                </a:lnTo>
                <a:lnTo>
                  <a:pt x="0" y="5090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42183" y="6466281"/>
            <a:ext cx="5862238" cy="3296688"/>
          </a:xfrm>
          <a:custGeom>
            <a:avLst/>
            <a:gdLst/>
            <a:ahLst/>
            <a:cxnLst/>
            <a:rect r="r" b="b" t="t" l="l"/>
            <a:pathLst>
              <a:path h="3296688" w="5862238">
                <a:moveTo>
                  <a:pt x="0" y="0"/>
                </a:moveTo>
                <a:lnTo>
                  <a:pt x="5862238" y="0"/>
                </a:lnTo>
                <a:lnTo>
                  <a:pt x="5862238" y="3296688"/>
                </a:lnTo>
                <a:lnTo>
                  <a:pt x="0" y="3296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042183" y="5838031"/>
            <a:ext cx="5862238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Espacio de Trabajo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6590" y="1654897"/>
            <a:ext cx="3086100" cy="5493924"/>
            <a:chOff x="0" y="0"/>
            <a:chExt cx="812800" cy="1446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446960"/>
            </a:xfrm>
            <a:custGeom>
              <a:avLst/>
              <a:gdLst/>
              <a:ahLst/>
              <a:cxnLst/>
              <a:rect r="r" b="b" t="t" l="l"/>
              <a:pathLst>
                <a:path h="144696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1384244"/>
                  </a:lnTo>
                  <a:cubicBezTo>
                    <a:pt x="812800" y="1400877"/>
                    <a:pt x="806192" y="1416829"/>
                    <a:pt x="794431" y="1428590"/>
                  </a:cubicBezTo>
                  <a:cubicBezTo>
                    <a:pt x="782669" y="1440352"/>
                    <a:pt x="766717" y="1446960"/>
                    <a:pt x="750084" y="1446960"/>
                  </a:cubicBezTo>
                  <a:lnTo>
                    <a:pt x="62716" y="1446960"/>
                  </a:lnTo>
                  <a:cubicBezTo>
                    <a:pt x="46083" y="1446960"/>
                    <a:pt x="30131" y="1440352"/>
                    <a:pt x="18369" y="1428590"/>
                  </a:cubicBezTo>
                  <a:cubicBezTo>
                    <a:pt x="6608" y="1416829"/>
                    <a:pt x="0" y="1400877"/>
                    <a:pt x="0" y="138424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2800" cy="1475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12782" y="1665275"/>
            <a:ext cx="3086100" cy="5493924"/>
            <a:chOff x="0" y="0"/>
            <a:chExt cx="812800" cy="1446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446960"/>
            </a:xfrm>
            <a:custGeom>
              <a:avLst/>
              <a:gdLst/>
              <a:ahLst/>
              <a:cxnLst/>
              <a:rect r="r" b="b" t="t" l="l"/>
              <a:pathLst>
                <a:path h="144696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1384244"/>
                  </a:lnTo>
                  <a:cubicBezTo>
                    <a:pt x="812800" y="1400877"/>
                    <a:pt x="806192" y="1416829"/>
                    <a:pt x="794431" y="1428590"/>
                  </a:cubicBezTo>
                  <a:cubicBezTo>
                    <a:pt x="782669" y="1440352"/>
                    <a:pt x="766717" y="1446960"/>
                    <a:pt x="750084" y="1446960"/>
                  </a:cubicBezTo>
                  <a:lnTo>
                    <a:pt x="62716" y="1446960"/>
                  </a:lnTo>
                  <a:cubicBezTo>
                    <a:pt x="46083" y="1446960"/>
                    <a:pt x="30131" y="1440352"/>
                    <a:pt x="18369" y="1428590"/>
                  </a:cubicBezTo>
                  <a:cubicBezTo>
                    <a:pt x="6608" y="1416829"/>
                    <a:pt x="0" y="1400877"/>
                    <a:pt x="0" y="138424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12800" cy="1475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27457" y="1639569"/>
            <a:ext cx="3086100" cy="5493924"/>
            <a:chOff x="0" y="0"/>
            <a:chExt cx="812800" cy="1446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446960"/>
            </a:xfrm>
            <a:custGeom>
              <a:avLst/>
              <a:gdLst/>
              <a:ahLst/>
              <a:cxnLst/>
              <a:rect r="r" b="b" t="t" l="l"/>
              <a:pathLst>
                <a:path h="144696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1384244"/>
                  </a:lnTo>
                  <a:cubicBezTo>
                    <a:pt x="812800" y="1400877"/>
                    <a:pt x="806192" y="1416829"/>
                    <a:pt x="794431" y="1428590"/>
                  </a:cubicBezTo>
                  <a:cubicBezTo>
                    <a:pt x="782669" y="1440352"/>
                    <a:pt x="766717" y="1446960"/>
                    <a:pt x="750084" y="1446960"/>
                  </a:cubicBezTo>
                  <a:lnTo>
                    <a:pt x="62716" y="1446960"/>
                  </a:lnTo>
                  <a:cubicBezTo>
                    <a:pt x="46083" y="1446960"/>
                    <a:pt x="30131" y="1440352"/>
                    <a:pt x="18369" y="1428590"/>
                  </a:cubicBezTo>
                  <a:cubicBezTo>
                    <a:pt x="6608" y="1416829"/>
                    <a:pt x="0" y="1400877"/>
                    <a:pt x="0" y="138424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1475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65796" y="1635551"/>
            <a:ext cx="3086100" cy="5493924"/>
            <a:chOff x="0" y="0"/>
            <a:chExt cx="812800" cy="1446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446960"/>
            </a:xfrm>
            <a:custGeom>
              <a:avLst/>
              <a:gdLst/>
              <a:ahLst/>
              <a:cxnLst/>
              <a:rect r="r" b="b" t="t" l="l"/>
              <a:pathLst>
                <a:path h="144696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1384244"/>
                  </a:lnTo>
                  <a:cubicBezTo>
                    <a:pt x="812800" y="1400877"/>
                    <a:pt x="806192" y="1416829"/>
                    <a:pt x="794431" y="1428590"/>
                  </a:cubicBezTo>
                  <a:cubicBezTo>
                    <a:pt x="782669" y="1440352"/>
                    <a:pt x="766717" y="1446960"/>
                    <a:pt x="750084" y="1446960"/>
                  </a:cubicBezTo>
                  <a:lnTo>
                    <a:pt x="62716" y="1446960"/>
                  </a:lnTo>
                  <a:cubicBezTo>
                    <a:pt x="46083" y="1446960"/>
                    <a:pt x="30131" y="1440352"/>
                    <a:pt x="18369" y="1428590"/>
                  </a:cubicBezTo>
                  <a:cubicBezTo>
                    <a:pt x="6608" y="1416829"/>
                    <a:pt x="0" y="1400877"/>
                    <a:pt x="0" y="138424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12800" cy="1475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57238" y="7261254"/>
            <a:ext cx="7750969" cy="2249727"/>
            <a:chOff x="0" y="0"/>
            <a:chExt cx="2041407" cy="5925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41407" cy="592521"/>
            </a:xfrm>
            <a:custGeom>
              <a:avLst/>
              <a:gdLst/>
              <a:ahLst/>
              <a:cxnLst/>
              <a:rect r="r" b="b" t="t" l="l"/>
              <a:pathLst>
                <a:path h="592521" w="2041407">
                  <a:moveTo>
                    <a:pt x="24971" y="0"/>
                  </a:moveTo>
                  <a:lnTo>
                    <a:pt x="2016437" y="0"/>
                  </a:lnTo>
                  <a:cubicBezTo>
                    <a:pt x="2023059" y="0"/>
                    <a:pt x="2029411" y="2631"/>
                    <a:pt x="2034094" y="7314"/>
                  </a:cubicBezTo>
                  <a:cubicBezTo>
                    <a:pt x="2038777" y="11997"/>
                    <a:pt x="2041407" y="18348"/>
                    <a:pt x="2041407" y="24971"/>
                  </a:cubicBezTo>
                  <a:lnTo>
                    <a:pt x="2041407" y="567550"/>
                  </a:lnTo>
                  <a:cubicBezTo>
                    <a:pt x="2041407" y="581341"/>
                    <a:pt x="2030228" y="592521"/>
                    <a:pt x="2016437" y="592521"/>
                  </a:cubicBezTo>
                  <a:lnTo>
                    <a:pt x="24971" y="592521"/>
                  </a:lnTo>
                  <a:cubicBezTo>
                    <a:pt x="11180" y="592521"/>
                    <a:pt x="0" y="581341"/>
                    <a:pt x="0" y="567550"/>
                  </a:cubicBezTo>
                  <a:lnTo>
                    <a:pt x="0" y="24971"/>
                  </a:lnTo>
                  <a:cubicBezTo>
                    <a:pt x="0" y="11180"/>
                    <a:pt x="11180" y="0"/>
                    <a:pt x="24971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041407" cy="621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00257" y="7283024"/>
            <a:ext cx="7750969" cy="2249727"/>
            <a:chOff x="0" y="0"/>
            <a:chExt cx="2041407" cy="5925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41407" cy="592521"/>
            </a:xfrm>
            <a:custGeom>
              <a:avLst/>
              <a:gdLst/>
              <a:ahLst/>
              <a:cxnLst/>
              <a:rect r="r" b="b" t="t" l="l"/>
              <a:pathLst>
                <a:path h="592521" w="2041407">
                  <a:moveTo>
                    <a:pt x="24971" y="0"/>
                  </a:moveTo>
                  <a:lnTo>
                    <a:pt x="2016437" y="0"/>
                  </a:lnTo>
                  <a:cubicBezTo>
                    <a:pt x="2023059" y="0"/>
                    <a:pt x="2029411" y="2631"/>
                    <a:pt x="2034094" y="7314"/>
                  </a:cubicBezTo>
                  <a:cubicBezTo>
                    <a:pt x="2038777" y="11997"/>
                    <a:pt x="2041407" y="18348"/>
                    <a:pt x="2041407" y="24971"/>
                  </a:cubicBezTo>
                  <a:lnTo>
                    <a:pt x="2041407" y="567550"/>
                  </a:lnTo>
                  <a:cubicBezTo>
                    <a:pt x="2041407" y="581341"/>
                    <a:pt x="2030228" y="592521"/>
                    <a:pt x="2016437" y="592521"/>
                  </a:cubicBezTo>
                  <a:lnTo>
                    <a:pt x="24971" y="592521"/>
                  </a:lnTo>
                  <a:cubicBezTo>
                    <a:pt x="11180" y="592521"/>
                    <a:pt x="0" y="581341"/>
                    <a:pt x="0" y="567550"/>
                  </a:cubicBezTo>
                  <a:lnTo>
                    <a:pt x="0" y="24971"/>
                  </a:lnTo>
                  <a:cubicBezTo>
                    <a:pt x="0" y="11180"/>
                    <a:pt x="11180" y="0"/>
                    <a:pt x="24971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041407" cy="621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6104" y="1639569"/>
            <a:ext cx="3086100" cy="5494020"/>
            <a:chOff x="0" y="0"/>
            <a:chExt cx="812800" cy="14470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1447038"/>
            </a:xfrm>
            <a:custGeom>
              <a:avLst/>
              <a:gdLst/>
              <a:ahLst/>
              <a:cxnLst/>
              <a:rect r="r" b="b" t="t" l="l"/>
              <a:pathLst>
                <a:path h="1447038" w="812800">
                  <a:moveTo>
                    <a:pt x="812800" y="62716"/>
                  </a:moveTo>
                  <a:lnTo>
                    <a:pt x="812800" y="1384322"/>
                  </a:lnTo>
                  <a:cubicBezTo>
                    <a:pt x="812800" y="1400955"/>
                    <a:pt x="806192" y="1416907"/>
                    <a:pt x="794431" y="1428669"/>
                  </a:cubicBezTo>
                  <a:cubicBezTo>
                    <a:pt x="782669" y="1440430"/>
                    <a:pt x="766717" y="1447038"/>
                    <a:pt x="750084" y="1447038"/>
                  </a:cubicBezTo>
                  <a:lnTo>
                    <a:pt x="62716" y="1447038"/>
                  </a:lnTo>
                  <a:cubicBezTo>
                    <a:pt x="46083" y="1447038"/>
                    <a:pt x="30131" y="1440430"/>
                    <a:pt x="18369" y="1428669"/>
                  </a:cubicBezTo>
                  <a:cubicBezTo>
                    <a:pt x="6608" y="1416907"/>
                    <a:pt x="0" y="1400955"/>
                    <a:pt x="0" y="1384322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12800" cy="1475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015007" y="706624"/>
            <a:ext cx="10011274" cy="4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7"/>
              </a:lnSpc>
            </a:pPr>
            <a:r>
              <a:rPr lang="en-US" sz="2484">
                <a:solidFill>
                  <a:srgbClr val="3038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LEAN CANVAS - MODELO DE NEGOCIO LEOFIT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77389" y="1882069"/>
            <a:ext cx="1647733" cy="28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9"/>
              </a:lnSpc>
            </a:pPr>
            <a:r>
              <a:rPr lang="en-US" sz="1735">
                <a:solidFill>
                  <a:srgbClr val="3038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 PROBLEMA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85520" y="2710645"/>
            <a:ext cx="277237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716" indent="-140358" lvl="1">
              <a:lnSpc>
                <a:spcPts val="1560"/>
              </a:lnSpc>
              <a:buFont typeface="Arial"/>
              <a:buChar char="•"/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Gestión manual y reactiva por WhatsApp.</a:t>
            </a:r>
          </a:p>
          <a:p>
            <a:pPr algn="l" marL="280716" indent="-140358" lvl="1">
              <a:lnSpc>
                <a:spcPts val="1560"/>
              </a:lnSpc>
              <a:buFont typeface="Arial"/>
              <a:buChar char="•"/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Descoordinación de stock real en almacen.</a:t>
            </a:r>
          </a:p>
          <a:p>
            <a:pPr algn="l" marL="280716" indent="-140358" lvl="1">
              <a:lnSpc>
                <a:spcPts val="1560"/>
              </a:lnSpc>
              <a:buFont typeface="Arial"/>
              <a:buChar char="•"/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Tempos excesivos de atención (25 min.).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Alternativas:</a:t>
            </a:r>
          </a:p>
          <a:p>
            <a:pPr algn="l" marL="280716" indent="-140358" lvl="1">
              <a:lnSpc>
                <a:spcPts val="1560"/>
              </a:lnSpc>
              <a:buFont typeface="Arial"/>
              <a:buChar char="•"/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Libreta física, chats, llamadas.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10403" y="1882093"/>
            <a:ext cx="1594088" cy="28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736">
                <a:solidFill>
                  <a:srgbClr val="3038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 SOLUCIÓN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43673" y="2668030"/>
            <a:ext cx="262845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Catálogo interactivo PWA con fotos HD.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Carrito reactivo con calculo automático.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Trazabilidad de 5 estados.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860206" y="4681261"/>
            <a:ext cx="2449898" cy="28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1734">
                <a:solidFill>
                  <a:srgbClr val="3038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8. MÉTRICAS CLAVE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743673" y="5337204"/>
            <a:ext cx="2735946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Círculo de pedido: &lt; 3 min.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Toca conversión: &gt; 35%.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Error de pedido: &lt; 1%.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Último PWA: =&gt; 99.3%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84160" y="1904575"/>
            <a:ext cx="2782860" cy="28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1734">
                <a:solidFill>
                  <a:srgbClr val="3038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PROPUESTA VALOR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57902" y="2710645"/>
            <a:ext cx="2621889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Plataforma web PWA ultraligera que permite al cliente armar su pedido deportivo en 2 minutos con stock en tiempo real.</a:t>
            </a:r>
          </a:p>
          <a:p>
            <a:pPr algn="l">
              <a:lnSpc>
                <a:spcPts val="1560"/>
              </a:lnSpc>
            </a:pP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Brinda al administrador control centralizado y despache inmediato.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18850" y="1890152"/>
            <a:ext cx="2890366" cy="28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1678">
                <a:solidFill>
                  <a:srgbClr val="3038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9. VENTAJA INJUSTA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68112" y="2650707"/>
            <a:ext cx="254664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Trato directo del fundador.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PWA ultrarapida (&lt;15).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Integration con pagos locales (Tap&amp;Pin).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10131" y="4681261"/>
            <a:ext cx="1603325" cy="28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9"/>
              </a:lnSpc>
            </a:pPr>
            <a:r>
              <a:rPr lang="en-US" sz="1735">
                <a:solidFill>
                  <a:srgbClr val="3038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 CANALES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68112" y="5427394"/>
            <a:ext cx="273309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1"/>
              </a:lnSpc>
            </a:pPr>
            <a:r>
              <a:rPr lang="en-US" sz="1301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PWA Web responsive</a:t>
            </a:r>
          </a:p>
          <a:p>
            <a:pPr algn="l">
              <a:lnSpc>
                <a:spcPts val="1561"/>
              </a:lnSpc>
            </a:pPr>
            <a:r>
              <a:rPr lang="en-US" sz="1301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Reseúmem orden vía WhatsApp AP.</a:t>
            </a:r>
          </a:p>
          <a:p>
            <a:pPr algn="l">
              <a:lnSpc>
                <a:spcPts val="1561"/>
              </a:lnSpc>
            </a:pPr>
            <a:r>
              <a:rPr lang="en-US" sz="1301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Panel web de administración.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26281" y="1904575"/>
            <a:ext cx="2761625" cy="28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1734">
                <a:solidFill>
                  <a:srgbClr val="3038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SEGMENTO CLIENTES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126542" y="2710645"/>
            <a:ext cx="2578892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Público Objetivo: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18-45 años | Fíltres en Lima Metropolitana.</a:t>
            </a:r>
          </a:p>
          <a:p>
            <a:pPr algn="l">
              <a:lnSpc>
                <a:spcPts val="1560"/>
              </a:lnSpc>
            </a:pP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Early Adopters: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Compradores habituales.</a:t>
            </a:r>
          </a:p>
          <a:p>
            <a:pPr algn="l">
              <a:lnSpc>
                <a:spcPts val="1560"/>
              </a:lnSpc>
            </a:pP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Administrador: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Dueño operador LeoFit.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85243" y="8228934"/>
            <a:ext cx="743540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Desarrollo y mantenimiento de software.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Infraestructura Cloud | Épico CDD (Github Pages / Vercel).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Adquisición de inventario textil deportivo y empaque.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Logística motorizada tercerizada.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37117" y="8266885"/>
            <a:ext cx="725568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Venta directa de indumentaria deportiva (margin 35-45%).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Tartas de delivery zonificadas por distrito.</a:t>
            </a:r>
          </a:p>
          <a:p>
            <a:pPr algn="l">
              <a:lnSpc>
                <a:spcPts val="1560"/>
              </a:lnSpc>
            </a:pPr>
            <a:r>
              <a:rPr lang="en-US" sz="1300" spc="65">
                <a:solidFill>
                  <a:srgbClr val="303870"/>
                </a:solidFill>
                <a:latin typeface="Arimo"/>
                <a:ea typeface="Arimo"/>
                <a:cs typeface="Arimo"/>
                <a:sym typeface="Arimo"/>
              </a:rPr>
              <a:t>Venta cruzada de accesorios y suplementos en catalogo.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341711" y="7530278"/>
            <a:ext cx="3784404" cy="28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1734">
                <a:solidFill>
                  <a:srgbClr val="3038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7. ESTRUCTURA DE COSTOS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07518" y="7482946"/>
            <a:ext cx="3182553" cy="28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7"/>
              </a:lnSpc>
            </a:pPr>
            <a:r>
              <a:rPr lang="en-US" sz="1733">
                <a:solidFill>
                  <a:srgbClr val="3038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6. FLUJO DE INGRESOS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504778" y="1243604"/>
            <a:ext cx="13253886" cy="29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7"/>
              </a:lnSpc>
            </a:pPr>
            <a:r>
              <a:rPr lang="en-US" sz="1733" spc="86">
                <a:solidFill>
                  <a:srgbClr val="303870"/>
                </a:solidFill>
                <a:latin typeface="HK Grotesk"/>
                <a:ea typeface="HK Grotesk"/>
                <a:cs typeface="HK Grotesk"/>
                <a:sym typeface="HK Grotesk"/>
              </a:rPr>
              <a:t>Sistema Web PWA de Gestión y Toma de Pedidos Multicanal | Curso Integrador II - UTP Grupo 01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716973" y="1809775"/>
          <a:ext cx="15087600" cy="8172450"/>
        </p:xfrm>
        <a:graphic>
          <a:graphicData uri="http://schemas.openxmlformats.org/presentationml/2006/ole">
            <p:oleObj imgW="18097500" imgH="111887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716973" y="914400"/>
            <a:ext cx="1544930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REQUERIMIENTOS FUNCIONALES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760616" y="0"/>
            <a:ext cx="3086100" cy="10287000"/>
            <a:chOff x="0" y="0"/>
            <a:chExt cx="812800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703670" y="1888637"/>
          <a:ext cx="15087600" cy="6915150"/>
        </p:xfrm>
        <a:graphic>
          <a:graphicData uri="http://schemas.openxmlformats.org/presentationml/2006/ole">
            <p:oleObj imgW="18097500" imgH="9931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703670" y="914400"/>
            <a:ext cx="1544930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REQUERIMIENTOS NO FUNCIONALES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961142" y="0"/>
            <a:ext cx="3086100" cy="10287000"/>
            <a:chOff x="0" y="0"/>
            <a:chExt cx="812800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9219" y="2854115"/>
            <a:ext cx="17449561" cy="4578771"/>
          </a:xfrm>
          <a:custGeom>
            <a:avLst/>
            <a:gdLst/>
            <a:ahLst/>
            <a:cxnLst/>
            <a:rect r="r" b="b" t="t" l="l"/>
            <a:pathLst>
              <a:path h="4578771" w="17449561">
                <a:moveTo>
                  <a:pt x="0" y="0"/>
                </a:moveTo>
                <a:lnTo>
                  <a:pt x="17449562" y="0"/>
                </a:lnTo>
                <a:lnTo>
                  <a:pt x="17449562" y="4578770"/>
                </a:lnTo>
                <a:lnTo>
                  <a:pt x="0" y="4578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02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04703"/>
            <a:ext cx="16584191" cy="6229437"/>
          </a:xfrm>
          <a:custGeom>
            <a:avLst/>
            <a:gdLst/>
            <a:ahLst/>
            <a:cxnLst/>
            <a:rect r="r" b="b" t="t" l="l"/>
            <a:pathLst>
              <a:path h="6229437" w="16584191">
                <a:moveTo>
                  <a:pt x="0" y="0"/>
                </a:moveTo>
                <a:lnTo>
                  <a:pt x="16584191" y="0"/>
                </a:lnTo>
                <a:lnTo>
                  <a:pt x="16584191" y="6229437"/>
                </a:lnTo>
                <a:lnTo>
                  <a:pt x="0" y="6229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75" y="578178"/>
            <a:ext cx="18239650" cy="9130644"/>
          </a:xfrm>
          <a:custGeom>
            <a:avLst/>
            <a:gdLst/>
            <a:ahLst/>
            <a:cxnLst/>
            <a:rect r="r" b="b" t="t" l="l"/>
            <a:pathLst>
              <a:path h="9130644" w="18239650">
                <a:moveTo>
                  <a:pt x="0" y="0"/>
                </a:moveTo>
                <a:lnTo>
                  <a:pt x="18239650" y="0"/>
                </a:lnTo>
                <a:lnTo>
                  <a:pt x="18239650" y="9130644"/>
                </a:lnTo>
                <a:lnTo>
                  <a:pt x="0" y="9130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78" t="-23186" r="-2899" b="-3055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9527" y="843977"/>
            <a:ext cx="15828946" cy="8766268"/>
          </a:xfrm>
          <a:custGeom>
            <a:avLst/>
            <a:gdLst/>
            <a:ahLst/>
            <a:cxnLst/>
            <a:rect r="r" b="b" t="t" l="l"/>
            <a:pathLst>
              <a:path h="8766268" w="15828946">
                <a:moveTo>
                  <a:pt x="0" y="0"/>
                </a:moveTo>
                <a:lnTo>
                  <a:pt x="15828946" y="0"/>
                </a:lnTo>
                <a:lnTo>
                  <a:pt x="15828946" y="8766267"/>
                </a:lnTo>
                <a:lnTo>
                  <a:pt x="0" y="876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7" t="-14442" r="-2699" b="-2120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334" y="9854535"/>
            <a:ext cx="5881092" cy="25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"/>
              </a:lnSpc>
            </a:pPr>
            <a:r>
              <a:rPr lang="en-US" sz="1540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s://leofit-solutions-grupo01.github.io/leofit-pedidos-sistema/"/>
              </a:rPr>
              <a:t>https://leofit-solutions-grupo01.github.io/leofit-pedidos-sistema/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14400"/>
            <a:ext cx="1534090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INTEGRACIÓN CON BASE DE DATOS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208051" y="2451739"/>
            <a:ext cx="4620547" cy="7065661"/>
          </a:xfrm>
          <a:custGeom>
            <a:avLst/>
            <a:gdLst/>
            <a:ahLst/>
            <a:cxnLst/>
            <a:rect r="r" b="b" t="t" l="l"/>
            <a:pathLst>
              <a:path h="7065661" w="4620547">
                <a:moveTo>
                  <a:pt x="0" y="0"/>
                </a:moveTo>
                <a:lnTo>
                  <a:pt x="4620547" y="0"/>
                </a:lnTo>
                <a:lnTo>
                  <a:pt x="4620547" y="7065662"/>
                </a:lnTo>
                <a:lnTo>
                  <a:pt x="0" y="7065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724025"/>
            <a:ext cx="9576741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1) Informe de Administración y Replicación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18389"/>
            <a:ext cx="10179351" cy="796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0968" indent="-280484" lvl="1">
              <a:lnSpc>
                <a:spcPts val="4572"/>
              </a:lnSpc>
              <a:buFont typeface="Arial"/>
              <a:buChar char="•"/>
            </a:pPr>
            <a:r>
              <a:rPr lang="en-US" b="true" sz="2598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Arquitectura</a:t>
            </a:r>
          </a:p>
          <a:p>
            <a:pPr algn="l" marL="1121936" indent="-373979" lvl="2">
              <a:lnSpc>
                <a:spcPts val="4572"/>
              </a:lnSpc>
              <a:buFont typeface="Arial"/>
              <a:buChar char="⚬"/>
            </a:pPr>
            <a:r>
              <a:rPr lang="en-US" sz="25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Nodo “Primary” (Escritura/Lectura)</a:t>
            </a:r>
          </a:p>
          <a:p>
            <a:pPr algn="l" marL="1121936" indent="-373979" lvl="2">
              <a:lnSpc>
                <a:spcPts val="4572"/>
              </a:lnSpc>
              <a:buFont typeface="Arial"/>
              <a:buChar char="⚬"/>
            </a:pPr>
            <a:r>
              <a:rPr lang="en-US" sz="25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Nodo “Standby” (Solo lectura)</a:t>
            </a:r>
          </a:p>
          <a:p>
            <a:pPr algn="l" marL="560968" indent="-280484" lvl="1">
              <a:lnSpc>
                <a:spcPts val="4572"/>
              </a:lnSpc>
              <a:buFont typeface="Arial"/>
              <a:buChar char="•"/>
            </a:pPr>
            <a:r>
              <a:rPr lang="en-US" b="true" sz="2598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Replicación</a:t>
            </a:r>
          </a:p>
          <a:p>
            <a:pPr algn="l" marL="1121936" indent="-373979" lvl="2">
              <a:lnSpc>
                <a:spcPts val="4572"/>
              </a:lnSpc>
              <a:buFont typeface="Arial"/>
              <a:buChar char="⚬"/>
            </a:pPr>
            <a:r>
              <a:rPr lang="en-US" sz="25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Streaming Replication física mediante WAL</a:t>
            </a:r>
          </a:p>
          <a:p>
            <a:pPr algn="l" marL="1121936" indent="-373979" lvl="2">
              <a:lnSpc>
                <a:spcPts val="4572"/>
              </a:lnSpc>
              <a:buFont typeface="Arial"/>
              <a:buChar char="⚬"/>
            </a:pPr>
            <a:r>
              <a:rPr lang="en-US" sz="25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Slot activo con Usuario dedicado</a:t>
            </a:r>
          </a:p>
          <a:p>
            <a:pPr algn="l" marL="560968" indent="-280484" lvl="1">
              <a:lnSpc>
                <a:spcPts val="4572"/>
              </a:lnSpc>
              <a:buFont typeface="Arial"/>
              <a:buChar char="•"/>
            </a:pPr>
            <a:r>
              <a:rPr lang="en-US" b="true" sz="2598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Backups</a:t>
            </a:r>
          </a:p>
          <a:p>
            <a:pPr algn="l" marL="1121936" indent="-373979" lvl="2">
              <a:lnSpc>
                <a:spcPts val="4572"/>
              </a:lnSpc>
              <a:buFont typeface="Arial"/>
              <a:buChar char="⚬"/>
            </a:pPr>
            <a:r>
              <a:rPr lang="en-US" sz="25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Backups automáticos diario 2:00AM</a:t>
            </a:r>
          </a:p>
          <a:p>
            <a:pPr algn="l" marL="1121936" indent="-373979" lvl="2">
              <a:lnSpc>
                <a:spcPts val="4572"/>
              </a:lnSpc>
              <a:buFont typeface="Arial"/>
              <a:buChar char="⚬"/>
            </a:pPr>
            <a:r>
              <a:rPr lang="en-US" sz="25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Archivado WAL continuo</a:t>
            </a:r>
          </a:p>
          <a:p>
            <a:pPr algn="l" marL="1121936" indent="-373979" lvl="2">
              <a:lnSpc>
                <a:spcPts val="4572"/>
              </a:lnSpc>
              <a:buFont typeface="Arial"/>
              <a:buChar char="⚬"/>
            </a:pPr>
            <a:r>
              <a:rPr lang="en-US" sz="25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Validación tras cada backup</a:t>
            </a:r>
          </a:p>
          <a:p>
            <a:pPr algn="l" marL="560968" indent="-280484" lvl="1">
              <a:lnSpc>
                <a:spcPts val="4572"/>
              </a:lnSpc>
              <a:buFont typeface="Arial"/>
              <a:buChar char="•"/>
            </a:pPr>
            <a:r>
              <a:rPr lang="en-US" b="true" sz="2598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Monitoreo</a:t>
            </a:r>
          </a:p>
          <a:p>
            <a:pPr algn="l" marL="1121936" indent="-373979" lvl="2">
              <a:lnSpc>
                <a:spcPts val="4572"/>
              </a:lnSpc>
              <a:buFont typeface="Arial"/>
              <a:buChar char="⚬"/>
            </a:pPr>
            <a:r>
              <a:rPr lang="en-US" sz="25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Lag de replicación</a:t>
            </a:r>
          </a:p>
          <a:p>
            <a:pPr algn="l" marL="1121936" indent="-373979" lvl="2">
              <a:lnSpc>
                <a:spcPts val="4572"/>
              </a:lnSpc>
              <a:buFont typeface="Arial"/>
              <a:buChar char="⚬"/>
            </a:pPr>
            <a:r>
              <a:rPr lang="en-US" sz="25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Actividad de conexiones</a:t>
            </a:r>
          </a:p>
          <a:p>
            <a:pPr algn="l" marL="1121936" indent="-373979" lvl="2">
              <a:lnSpc>
                <a:spcPts val="4572"/>
              </a:lnSpc>
              <a:buFont typeface="Arial"/>
              <a:buChar char="⚬"/>
            </a:pPr>
            <a:r>
              <a:rPr lang="en-US" sz="25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Bloqueos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37406" y="1758587"/>
            <a:ext cx="12736070" cy="8222725"/>
          </a:xfrm>
          <a:custGeom>
            <a:avLst/>
            <a:gdLst/>
            <a:ahLst/>
            <a:cxnLst/>
            <a:rect r="r" b="b" t="t" l="l"/>
            <a:pathLst>
              <a:path h="8222725" w="12736070">
                <a:moveTo>
                  <a:pt x="0" y="0"/>
                </a:moveTo>
                <a:lnTo>
                  <a:pt x="12736070" y="0"/>
                </a:lnTo>
                <a:lnTo>
                  <a:pt x="12736070" y="8222725"/>
                </a:lnTo>
                <a:lnTo>
                  <a:pt x="0" y="8222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302" y="3356803"/>
            <a:ext cx="3851354" cy="2852443"/>
          </a:xfrm>
          <a:custGeom>
            <a:avLst/>
            <a:gdLst/>
            <a:ahLst/>
            <a:cxnLst/>
            <a:rect r="r" b="b" t="t" l="l"/>
            <a:pathLst>
              <a:path h="2852443" w="3851354">
                <a:moveTo>
                  <a:pt x="0" y="0"/>
                </a:moveTo>
                <a:lnTo>
                  <a:pt x="3851354" y="0"/>
                </a:lnTo>
                <a:lnTo>
                  <a:pt x="3851354" y="2852443"/>
                </a:lnTo>
                <a:lnTo>
                  <a:pt x="0" y="2852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9576741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2) Diseño físico de base de datos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50248" y="2129068"/>
            <a:ext cx="10754366" cy="5478321"/>
          </a:xfrm>
          <a:custGeom>
            <a:avLst/>
            <a:gdLst/>
            <a:ahLst/>
            <a:cxnLst/>
            <a:rect r="r" b="b" t="t" l="l"/>
            <a:pathLst>
              <a:path h="5478321" w="10754366">
                <a:moveTo>
                  <a:pt x="0" y="0"/>
                </a:moveTo>
                <a:lnTo>
                  <a:pt x="10754367" y="0"/>
                </a:lnTo>
                <a:lnTo>
                  <a:pt x="10754367" y="5478321"/>
                </a:lnTo>
                <a:lnTo>
                  <a:pt x="0" y="5478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4295" y="116514"/>
            <a:ext cx="9576741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3) Implementación del Patrón de Acceso a Datos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808586"/>
            <a:ext cx="7350248" cy="501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570" indent="-221785" lvl="1">
              <a:lnSpc>
                <a:spcPts val="3615"/>
              </a:lnSpc>
              <a:buFont typeface="Arial"/>
              <a:buChar char="•"/>
            </a:pPr>
            <a:r>
              <a:rPr lang="en-US" sz="205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Conexión establecido con PostgreSQL 16 alojado en Render.</a:t>
            </a:r>
          </a:p>
          <a:p>
            <a:pPr algn="l" marL="443570" indent="-221785" lvl="1">
              <a:lnSpc>
                <a:spcPts val="3615"/>
              </a:lnSpc>
              <a:buFont typeface="Arial"/>
              <a:buChar char="•"/>
            </a:pPr>
            <a:r>
              <a:rPr lang="en-US" sz="205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Modelos contienen esquemas que alinean los tipados de TypeScript con las tablas SQL.</a:t>
            </a:r>
          </a:p>
          <a:p>
            <a:pPr algn="l" marL="443570" indent="-221785" lvl="1">
              <a:lnSpc>
                <a:spcPts val="3615"/>
              </a:lnSpc>
              <a:buFont typeface="Arial"/>
              <a:buChar char="•"/>
            </a:pPr>
            <a:r>
              <a:rPr lang="en-US" sz="205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Repositorios que realizan consultas y/o comandos SQL, instanciados como Singletons.</a:t>
            </a:r>
          </a:p>
          <a:p>
            <a:pPr algn="l" marL="443570" indent="-221785" lvl="1">
              <a:lnSpc>
                <a:spcPts val="3615"/>
              </a:lnSpc>
              <a:buFont typeface="Arial"/>
              <a:buChar char="•"/>
            </a:pPr>
            <a:r>
              <a:rPr lang="en-US" sz="205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Controladores que referencian las funciones declaradas en los repositorios.</a:t>
            </a:r>
          </a:p>
          <a:p>
            <a:pPr algn="l" marL="443570" indent="-221785" lvl="1">
              <a:lnSpc>
                <a:spcPts val="3615"/>
              </a:lnSpc>
              <a:buFont typeface="Arial"/>
              <a:buChar char="•"/>
            </a:pPr>
            <a:r>
              <a:rPr lang="en-US" sz="2054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Esquemas de validación que simplifican la verificación de parámetros.</a:t>
            </a:r>
          </a:p>
          <a:p>
            <a:pPr algn="l">
              <a:lnSpc>
                <a:spcPts val="361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4231" y="3338301"/>
            <a:ext cx="12145322" cy="3623830"/>
          </a:xfrm>
          <a:custGeom>
            <a:avLst/>
            <a:gdLst/>
            <a:ahLst/>
            <a:cxnLst/>
            <a:rect r="r" b="b" t="t" l="l"/>
            <a:pathLst>
              <a:path h="3623830" w="12145322">
                <a:moveTo>
                  <a:pt x="0" y="0"/>
                </a:moveTo>
                <a:lnTo>
                  <a:pt x="12145322" y="0"/>
                </a:lnTo>
                <a:lnTo>
                  <a:pt x="12145322" y="3623830"/>
                </a:lnTo>
                <a:lnTo>
                  <a:pt x="0" y="3623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62025"/>
            <a:ext cx="12817052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 4) Consistencia entre el modelo de base de datos y el script SQL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08734" y="3805355"/>
            <a:ext cx="14029922" cy="4226640"/>
          </a:xfrm>
          <a:custGeom>
            <a:avLst/>
            <a:gdLst/>
            <a:ahLst/>
            <a:cxnLst/>
            <a:rect r="r" b="b" t="t" l="l"/>
            <a:pathLst>
              <a:path h="4226640" w="14029922">
                <a:moveTo>
                  <a:pt x="0" y="0"/>
                </a:moveTo>
                <a:lnTo>
                  <a:pt x="14029921" y="0"/>
                </a:lnTo>
                <a:lnTo>
                  <a:pt x="14029921" y="4226640"/>
                </a:lnTo>
                <a:lnTo>
                  <a:pt x="0" y="4226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1534090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MEDIDAS DE SEGURIDAD PARA LA APLICACIÓN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09183"/>
            <a:ext cx="15340901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1) Módulo de Autenticación y Autorización Implementado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62025"/>
            <a:ext cx="12817052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 2) Informe Técnico de Seguridad, Cifrado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54714"/>
            <a:ext cx="6167567" cy="633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4576"/>
              </a:lnSpc>
              <a:buFont typeface="Arial"/>
              <a:buChar char="•"/>
            </a:pPr>
            <a:r>
              <a:rPr lang="en-US" b="true" sz="26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Cifrado en reposo</a:t>
            </a: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</a:p>
          <a:p>
            <a:pPr algn="l" marL="1122681" indent="-374227" lvl="2">
              <a:lnSpc>
                <a:spcPts val="4576"/>
              </a:lnSpc>
              <a:buFont typeface="Arial"/>
              <a:buChar char="⚬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Contraseñas protegidos por bcrypt</a:t>
            </a:r>
          </a:p>
          <a:p>
            <a:pPr algn="l" marL="1122681" indent="-374227" lvl="2">
              <a:lnSpc>
                <a:spcPts val="4576"/>
              </a:lnSpc>
              <a:buFont typeface="Arial"/>
              <a:buChar char="⚬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Volumen de BD encriptado por AES-256.</a:t>
            </a:r>
          </a:p>
          <a:p>
            <a:pPr algn="l" marL="561341" indent="-280670" lvl="1">
              <a:lnSpc>
                <a:spcPts val="4576"/>
              </a:lnSpc>
              <a:buFont typeface="Arial"/>
              <a:buChar char="•"/>
            </a:pPr>
            <a:r>
              <a:rPr lang="en-US" b="true" sz="2600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Cifrado en tránsito</a:t>
            </a: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algn="l" marL="1122681" indent="-374227" lvl="2">
              <a:lnSpc>
                <a:spcPts val="4576"/>
              </a:lnSpc>
              <a:buFont typeface="Arial"/>
              <a:buChar char="⚬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TLS 1.3 y HTTPS obligatorio entre extremo a extremo.</a:t>
            </a:r>
          </a:p>
          <a:p>
            <a:pPr algn="l" marL="1122681" indent="-374227" lvl="2">
              <a:lnSpc>
                <a:spcPts val="4576"/>
              </a:lnSpc>
              <a:buFont typeface="Arial"/>
              <a:buChar char="⚬"/>
            </a:pPr>
            <a:r>
              <a:rPr lang="en-US" sz="2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Tokens firmados mediante HS256.</a:t>
            </a:r>
          </a:p>
          <a:p>
            <a:pPr algn="l">
              <a:lnSpc>
                <a:spcPts val="457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910343" y="3358369"/>
            <a:ext cx="8634880" cy="4143377"/>
          </a:xfrm>
          <a:custGeom>
            <a:avLst/>
            <a:gdLst/>
            <a:ahLst/>
            <a:cxnLst/>
            <a:rect r="r" b="b" t="t" l="l"/>
            <a:pathLst>
              <a:path h="4143377" w="8634880">
                <a:moveTo>
                  <a:pt x="0" y="0"/>
                </a:moveTo>
                <a:lnTo>
                  <a:pt x="8634881" y="0"/>
                </a:lnTo>
                <a:lnTo>
                  <a:pt x="8634881" y="4143376"/>
                </a:lnTo>
                <a:lnTo>
                  <a:pt x="0" y="4143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18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7310" y="1900482"/>
            <a:ext cx="16371990" cy="6788386"/>
          </a:xfrm>
          <a:custGeom>
            <a:avLst/>
            <a:gdLst/>
            <a:ahLst/>
            <a:cxnLst/>
            <a:rect r="r" b="b" t="t" l="l"/>
            <a:pathLst>
              <a:path h="6788386" w="16371990">
                <a:moveTo>
                  <a:pt x="0" y="0"/>
                </a:moveTo>
                <a:lnTo>
                  <a:pt x="16371990" y="0"/>
                </a:lnTo>
                <a:lnTo>
                  <a:pt x="16371990" y="6788386"/>
                </a:lnTo>
                <a:lnTo>
                  <a:pt x="0" y="6788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62025"/>
            <a:ext cx="12817052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3) Prueba de seguridad web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623444" y="1923553"/>
          <a:ext cx="16230600" cy="7334747"/>
        </p:xfrm>
        <a:graphic>
          <a:graphicData uri="http://schemas.openxmlformats.org/presentationml/2006/ole">
            <p:oleObj imgW="19469100" imgH="10579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962025"/>
            <a:ext cx="12817052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4) Catálogo de Controles de Seguridad del Proyecto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14400"/>
            <a:ext cx="1534090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DESPLIEGUE DE LA APLICACIÓN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18863"/>
            <a:ext cx="15340901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1) Plan de pruebas del 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75994"/>
            <a:ext cx="11284486" cy="343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4575"/>
              </a:lnSpc>
              <a:buFont typeface="Arial"/>
              <a:buChar char="•"/>
            </a:pPr>
            <a:r>
              <a:rPr lang="en-US" sz="25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Por parte del frontend, se definen 17 pruebas utilizando Vitest, buscando probar las funcionalidades de renderización, navegación, y integridad de datos.</a:t>
            </a:r>
          </a:p>
          <a:p>
            <a:pPr algn="l" marL="561337" indent="-280669" lvl="1">
              <a:lnSpc>
                <a:spcPts val="4575"/>
              </a:lnSpc>
              <a:buFont typeface="Arial"/>
              <a:buChar char="•"/>
            </a:pPr>
            <a:r>
              <a:rPr lang="en-US" sz="25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Por parte del backend, se definen 18 pruebas utilizando API Supertest y Jest, buscando probar servicios (pedidos, stock), autenticación (JTW), y seguridad (SQL, Zod).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62025"/>
            <a:ext cx="12817052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2) Manual de despliegue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63995"/>
            <a:ext cx="7523964" cy="7501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4575"/>
              </a:lnSpc>
              <a:buFont typeface="Arial"/>
              <a:buChar char="•"/>
            </a:pPr>
            <a:r>
              <a:rPr lang="en-US" b="true" sz="25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Arquitectura:</a:t>
            </a:r>
          </a:p>
          <a:p>
            <a:pPr algn="l" marL="1122675" indent="-374225" lvl="2">
              <a:lnSpc>
                <a:spcPts val="4575"/>
              </a:lnSpc>
              <a:buFont typeface="Arial"/>
              <a:buChar char="⚬"/>
            </a:pPr>
            <a:r>
              <a:rPr lang="en-US" sz="25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PWA / Frontend → Netlify</a:t>
            </a:r>
          </a:p>
          <a:p>
            <a:pPr algn="l" marL="1122675" indent="-374225" lvl="2">
              <a:lnSpc>
                <a:spcPts val="4575"/>
              </a:lnSpc>
              <a:buFont typeface="Arial"/>
              <a:buChar char="⚬"/>
            </a:pPr>
            <a:r>
              <a:rPr lang="en-US" sz="25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API /  Backend →  Render</a:t>
            </a:r>
          </a:p>
          <a:p>
            <a:pPr algn="l" marL="561337" indent="-280669" lvl="1">
              <a:lnSpc>
                <a:spcPts val="4575"/>
              </a:lnSpc>
              <a:buFont typeface="Arial"/>
              <a:buChar char="•"/>
            </a:pPr>
            <a:r>
              <a:rPr lang="en-US" b="true" sz="25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Seguridad:</a:t>
            </a:r>
          </a:p>
          <a:p>
            <a:pPr algn="l" marL="1122675" indent="-374225" lvl="2">
              <a:lnSpc>
                <a:spcPts val="4575"/>
              </a:lnSpc>
              <a:buFont typeface="Arial"/>
              <a:buChar char="⚬"/>
            </a:pPr>
            <a:r>
              <a:rPr lang="en-US" sz="25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Protocolo HTTPS</a:t>
            </a:r>
          </a:p>
          <a:p>
            <a:pPr algn="l" marL="1122675" indent="-374225" lvl="2">
              <a:lnSpc>
                <a:spcPts val="4575"/>
              </a:lnSpc>
              <a:buFont typeface="Arial"/>
              <a:buChar char="⚬"/>
            </a:pPr>
            <a:r>
              <a:rPr lang="en-US" sz="25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Conexión a BD mediante SSL</a:t>
            </a:r>
          </a:p>
          <a:p>
            <a:pPr algn="l" marL="1122675" indent="-374225" lvl="2">
              <a:lnSpc>
                <a:spcPts val="4575"/>
              </a:lnSpc>
              <a:buFont typeface="Arial"/>
              <a:buChar char="⚬"/>
            </a:pPr>
            <a:r>
              <a:rPr lang="en-US" sz="25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Autenticación JWT</a:t>
            </a:r>
          </a:p>
          <a:p>
            <a:pPr algn="l" marL="1122675" indent="-374225" lvl="2">
              <a:lnSpc>
                <a:spcPts val="4575"/>
              </a:lnSpc>
              <a:buFont typeface="Arial"/>
              <a:buChar char="⚬"/>
            </a:pPr>
            <a:r>
              <a:rPr lang="en-US" sz="25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CORS configurado al dominio principal.</a:t>
            </a:r>
          </a:p>
          <a:p>
            <a:pPr algn="l" marL="561337" indent="-280669" lvl="1">
              <a:lnSpc>
                <a:spcPts val="4575"/>
              </a:lnSpc>
              <a:buFont typeface="Arial"/>
              <a:buChar char="•"/>
            </a:pPr>
            <a:r>
              <a:rPr lang="en-US" b="true" sz="25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Proceso de Despliegue:</a:t>
            </a:r>
          </a:p>
          <a:p>
            <a:pPr algn="l" marL="1122675" indent="-374225" lvl="2">
              <a:lnSpc>
                <a:spcPts val="4575"/>
              </a:lnSpc>
              <a:buFont typeface="Arial"/>
              <a:buChar char="⚬"/>
            </a:pPr>
            <a:r>
              <a:rPr lang="en-US" sz="25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CI/CD mediante Github Actions</a:t>
            </a:r>
          </a:p>
          <a:p>
            <a:pPr algn="l" marL="561337" indent="-280669" lvl="1">
              <a:lnSpc>
                <a:spcPts val="4575"/>
              </a:lnSpc>
              <a:buFont typeface="Arial"/>
              <a:buChar char="•"/>
            </a:pPr>
            <a:r>
              <a:rPr lang="en-US" b="true" sz="2599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Verificación: </a:t>
            </a:r>
          </a:p>
          <a:p>
            <a:pPr algn="l" marL="1122675" indent="-374225" lvl="2">
              <a:lnSpc>
                <a:spcPts val="4575"/>
              </a:lnSpc>
              <a:buFont typeface="Arial"/>
              <a:buChar char="⚬"/>
            </a:pPr>
            <a:r>
              <a:rPr lang="en-US" sz="25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Implementación de endpoint “api/health”</a:t>
            </a:r>
          </a:p>
          <a:p>
            <a:pPr algn="l">
              <a:lnSpc>
                <a:spcPts val="4575"/>
              </a:lnSpc>
            </a:pPr>
          </a:p>
        </p:txBody>
      </p:sp>
      <p:graphicFrame>
        <p:nvGraphicFramePr>
          <p:cNvPr name="Object 7" id="7"/>
          <p:cNvGraphicFramePr/>
          <p:nvPr/>
        </p:nvGraphicFramePr>
        <p:xfrm>
          <a:off x="8857130" y="3220307"/>
          <a:ext cx="5657850" cy="3771900"/>
        </p:xfrm>
        <a:graphic>
          <a:graphicData uri="http://schemas.openxmlformats.org/presentationml/2006/ole">
            <p:oleObj imgW="6781800" imgH="4902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8857130" y="2559367"/>
            <a:ext cx="7265254" cy="50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4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Variables de entorno: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62025"/>
            <a:ext cx="12817052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3) Evidencia de pruebas de despliegue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773895" y="3012209"/>
            <a:ext cx="7020627" cy="3516850"/>
          </a:xfrm>
          <a:custGeom>
            <a:avLst/>
            <a:gdLst/>
            <a:ahLst/>
            <a:cxnLst/>
            <a:rect r="r" b="b" t="t" l="l"/>
            <a:pathLst>
              <a:path h="3516850" w="7020627">
                <a:moveTo>
                  <a:pt x="0" y="0"/>
                </a:moveTo>
                <a:lnTo>
                  <a:pt x="7020627" y="0"/>
                </a:lnTo>
                <a:lnTo>
                  <a:pt x="7020627" y="3516850"/>
                </a:lnTo>
                <a:lnTo>
                  <a:pt x="0" y="3516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099752"/>
            <a:ext cx="8449328" cy="5135866"/>
          </a:xfrm>
          <a:custGeom>
            <a:avLst/>
            <a:gdLst/>
            <a:ahLst/>
            <a:cxnLst/>
            <a:rect r="r" b="b" t="t" l="l"/>
            <a:pathLst>
              <a:path h="5135866" w="8449328">
                <a:moveTo>
                  <a:pt x="0" y="0"/>
                </a:moveTo>
                <a:lnTo>
                  <a:pt x="8449328" y="0"/>
                </a:lnTo>
                <a:lnTo>
                  <a:pt x="8449328" y="5135866"/>
                </a:lnTo>
                <a:lnTo>
                  <a:pt x="0" y="5135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75117" y="7535445"/>
            <a:ext cx="12789695" cy="1958422"/>
          </a:xfrm>
          <a:custGeom>
            <a:avLst/>
            <a:gdLst/>
            <a:ahLst/>
            <a:cxnLst/>
            <a:rect r="r" b="b" t="t" l="l"/>
            <a:pathLst>
              <a:path h="1958422" w="12789695">
                <a:moveTo>
                  <a:pt x="0" y="0"/>
                </a:moveTo>
                <a:lnTo>
                  <a:pt x="12789696" y="0"/>
                </a:lnTo>
                <a:lnTo>
                  <a:pt x="12789696" y="1958422"/>
                </a:lnTo>
                <a:lnTo>
                  <a:pt x="0" y="19584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62520" y="2173084"/>
            <a:ext cx="7020627" cy="3516850"/>
          </a:xfrm>
          <a:custGeom>
            <a:avLst/>
            <a:gdLst/>
            <a:ahLst/>
            <a:cxnLst/>
            <a:rect r="r" b="b" t="t" l="l"/>
            <a:pathLst>
              <a:path h="3516850" w="7020627">
                <a:moveTo>
                  <a:pt x="0" y="0"/>
                </a:moveTo>
                <a:lnTo>
                  <a:pt x="7020626" y="0"/>
                </a:lnTo>
                <a:lnTo>
                  <a:pt x="7020626" y="3516850"/>
                </a:lnTo>
                <a:lnTo>
                  <a:pt x="0" y="3516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52114" y="3931509"/>
            <a:ext cx="5990712" cy="6109612"/>
          </a:xfrm>
          <a:custGeom>
            <a:avLst/>
            <a:gdLst/>
            <a:ahLst/>
            <a:cxnLst/>
            <a:rect r="r" b="b" t="t" l="l"/>
            <a:pathLst>
              <a:path h="6109612" w="5990712">
                <a:moveTo>
                  <a:pt x="0" y="0"/>
                </a:moveTo>
                <a:lnTo>
                  <a:pt x="5990712" y="0"/>
                </a:lnTo>
                <a:lnTo>
                  <a:pt x="5990712" y="6109612"/>
                </a:lnTo>
                <a:lnTo>
                  <a:pt x="0" y="6109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97517" y="2670192"/>
            <a:ext cx="7113356" cy="2799634"/>
          </a:xfrm>
          <a:custGeom>
            <a:avLst/>
            <a:gdLst/>
            <a:ahLst/>
            <a:cxnLst/>
            <a:rect r="r" b="b" t="t" l="l"/>
            <a:pathLst>
              <a:path h="2799634" w="7113356">
                <a:moveTo>
                  <a:pt x="0" y="0"/>
                </a:moveTo>
                <a:lnTo>
                  <a:pt x="7113356" y="0"/>
                </a:lnTo>
                <a:lnTo>
                  <a:pt x="7113356" y="2799634"/>
                </a:lnTo>
                <a:lnTo>
                  <a:pt x="0" y="27996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62025"/>
            <a:ext cx="12817052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4) Evidencias de monitoreo y administración de base de datos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4802" y="2443067"/>
            <a:ext cx="6925866" cy="612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URL Oficial Desplegada en la Nube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4802" y="3082414"/>
            <a:ext cx="12407827" cy="174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0215" indent="-186738" lvl="2">
              <a:lnSpc>
                <a:spcPts val="3431"/>
              </a:lnSpc>
              <a:buFont typeface="Arial"/>
              <a:buChar char="⚬"/>
            </a:pPr>
            <a:r>
              <a:rPr lang="en-US" b="true" sz="2451">
                <a:solidFill>
                  <a:srgbClr val="303870"/>
                </a:solidFill>
                <a:latin typeface="Lato Bold"/>
                <a:ea typeface="Lato Bold"/>
                <a:cs typeface="Lato Bold"/>
                <a:sym typeface="Lato Bold"/>
              </a:rPr>
              <a:t>Autenticación en la Nube: </a:t>
            </a:r>
            <a:r>
              <a:rPr lang="en-US" sz="2451">
                <a:solidFill>
                  <a:srgbClr val="303870"/>
                </a:solidFill>
                <a:latin typeface="Lato"/>
                <a:ea typeface="Lato"/>
                <a:cs typeface="Lato"/>
                <a:sym typeface="Lato"/>
              </a:rPr>
              <a:t>Inicio de sesión con credenciales y emisión de JWT.</a:t>
            </a:r>
          </a:p>
          <a:p>
            <a:pPr algn="l" marL="560215" indent="-186738" lvl="2">
              <a:lnSpc>
                <a:spcPts val="3431"/>
              </a:lnSpc>
              <a:buFont typeface="Arial"/>
              <a:buChar char="⚬"/>
            </a:pPr>
            <a:r>
              <a:rPr lang="en-US" b="true" sz="2451">
                <a:solidFill>
                  <a:srgbClr val="303870"/>
                </a:solidFill>
                <a:latin typeface="Lato Bold"/>
                <a:ea typeface="Lato Bold"/>
                <a:cs typeface="Lato Bold"/>
                <a:sym typeface="Lato Bold"/>
              </a:rPr>
              <a:t>Persistencia Transaccional:</a:t>
            </a:r>
            <a:r>
              <a:rPr lang="en-US" sz="2451">
                <a:solidFill>
                  <a:srgbClr val="303870"/>
                </a:solidFill>
                <a:latin typeface="Lato"/>
                <a:ea typeface="Lato"/>
                <a:cs typeface="Lato"/>
                <a:sym typeface="Lato"/>
              </a:rPr>
              <a:t> Registro de pedidos con inscrición directa en PostgreSQL.</a:t>
            </a:r>
          </a:p>
          <a:p>
            <a:pPr algn="l" marL="560215" indent="-186738" lvl="2">
              <a:lnSpc>
                <a:spcPts val="3431"/>
              </a:lnSpc>
              <a:buFont typeface="Arial"/>
              <a:buChar char="⚬"/>
            </a:pPr>
            <a:r>
              <a:rPr lang="en-US" b="true" sz="2451">
                <a:solidFill>
                  <a:srgbClr val="303870"/>
                </a:solidFill>
                <a:latin typeface="Lato Bold"/>
                <a:ea typeface="Lato Bold"/>
                <a:cs typeface="Lato Bold"/>
                <a:sym typeface="Lato Bold"/>
              </a:rPr>
              <a:t>Seguridad Activa: </a:t>
            </a:r>
            <a:r>
              <a:rPr lang="en-US" sz="2451">
                <a:solidFill>
                  <a:srgbClr val="303870"/>
                </a:solidFill>
                <a:latin typeface="Lato"/>
                <a:ea typeface="Lato"/>
                <a:cs typeface="Lato"/>
                <a:sym typeface="Lato"/>
              </a:rPr>
              <a:t>Conexiones bajo protocolo HTTPS y autorización por roles.</a:t>
            </a:r>
          </a:p>
          <a:p>
            <a:pPr algn="l" marL="560249" indent="-186750" lvl="2">
              <a:lnSpc>
                <a:spcPts val="3431"/>
              </a:lnSpc>
              <a:buFont typeface="Arial"/>
              <a:buChar char="⚬"/>
            </a:pPr>
            <a:r>
              <a:rPr lang="en-US" b="true" sz="2451">
                <a:solidFill>
                  <a:srgbClr val="303870"/>
                </a:solidFill>
                <a:latin typeface="Lato Bold"/>
                <a:ea typeface="Lato Bold"/>
                <a:cs typeface="Lato Bold"/>
                <a:sym typeface="Lato Bold"/>
              </a:rPr>
              <a:t>Cumplimiento de Rúbrica: </a:t>
            </a:r>
            <a:r>
              <a:rPr lang="en-US" sz="2451">
                <a:solidFill>
                  <a:srgbClr val="303870"/>
                </a:solidFill>
                <a:latin typeface="Lato"/>
                <a:ea typeface="Lato"/>
                <a:cs typeface="Lato"/>
                <a:sym typeface="Lato"/>
              </a:rPr>
              <a:t>Validación en plataforma Cloud completada.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38200"/>
            <a:ext cx="15340898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VALIDACIÓN Y VERIFICACIÓN DEL SISTEMA EN LA PLATAFORMA CLOUD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259300" y="-361655"/>
            <a:ext cx="3086100" cy="10648655"/>
          </a:xfrm>
          <a:custGeom>
            <a:avLst/>
            <a:gdLst/>
            <a:ahLst/>
            <a:cxnLst/>
            <a:rect r="r" b="b" t="t" l="l"/>
            <a:pathLst>
              <a:path h="10648655" w="3086100">
                <a:moveTo>
                  <a:pt x="0" y="0"/>
                </a:moveTo>
                <a:lnTo>
                  <a:pt x="3086100" y="0"/>
                </a:lnTo>
                <a:lnTo>
                  <a:pt x="3086100" y="10648655"/>
                </a:lnTo>
                <a:lnTo>
                  <a:pt x="0" y="10648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4234" y="5114039"/>
            <a:ext cx="2048618" cy="1721920"/>
            <a:chOff x="0" y="0"/>
            <a:chExt cx="2731491" cy="22958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31516" cy="2295906"/>
            </a:xfrm>
            <a:custGeom>
              <a:avLst/>
              <a:gdLst/>
              <a:ahLst/>
              <a:cxnLst/>
              <a:rect r="r" b="b" t="t" l="l"/>
              <a:pathLst>
                <a:path h="2295906" w="2731516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2348865" y="0"/>
                  </a:lnTo>
                  <a:cubicBezTo>
                    <a:pt x="2560193" y="0"/>
                    <a:pt x="2731516" y="171323"/>
                    <a:pt x="2731516" y="382651"/>
                  </a:cubicBezTo>
                  <a:lnTo>
                    <a:pt x="2731516" y="1913255"/>
                  </a:lnTo>
                  <a:cubicBezTo>
                    <a:pt x="2731516" y="2124583"/>
                    <a:pt x="2560193" y="2295906"/>
                    <a:pt x="2348865" y="2295906"/>
                  </a:cubicBezTo>
                  <a:lnTo>
                    <a:pt x="382651" y="2295906"/>
                  </a:lnTo>
                  <a:cubicBezTo>
                    <a:pt x="171323" y="2295906"/>
                    <a:pt x="0" y="2124583"/>
                    <a:pt x="0" y="1913255"/>
                  </a:cubicBezTo>
                  <a:close/>
                </a:path>
              </a:pathLst>
            </a:custGeom>
            <a:solidFill>
              <a:srgbClr val="1E293B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547597" y="5255962"/>
            <a:ext cx="1629651" cy="128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284C7"/>
                </a:solidFill>
                <a:latin typeface="Segoe UI Bold"/>
                <a:ea typeface="Segoe UI Bold"/>
                <a:cs typeface="Segoe UI Bold"/>
                <a:sym typeface="Segoe UI Bold"/>
              </a:rPr>
              <a:t>Frontend PWA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rPr>
              <a:t>React 19 + TypeScript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rPr>
              <a:t>GitHub Pages Edge CDN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471952" y="5114039"/>
            <a:ext cx="2048618" cy="1721920"/>
            <a:chOff x="0" y="0"/>
            <a:chExt cx="2731491" cy="22958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31516" cy="2295906"/>
            </a:xfrm>
            <a:custGeom>
              <a:avLst/>
              <a:gdLst/>
              <a:ahLst/>
              <a:cxnLst/>
              <a:rect r="r" b="b" t="t" l="l"/>
              <a:pathLst>
                <a:path h="2295906" w="2731516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2348865" y="0"/>
                  </a:lnTo>
                  <a:cubicBezTo>
                    <a:pt x="2560193" y="0"/>
                    <a:pt x="2731516" y="171323"/>
                    <a:pt x="2731516" y="382651"/>
                  </a:cubicBezTo>
                  <a:lnTo>
                    <a:pt x="2731516" y="1913255"/>
                  </a:lnTo>
                  <a:cubicBezTo>
                    <a:pt x="2731516" y="2124583"/>
                    <a:pt x="2560193" y="2295906"/>
                    <a:pt x="2348865" y="2295906"/>
                  </a:cubicBezTo>
                  <a:lnTo>
                    <a:pt x="382651" y="2295906"/>
                  </a:lnTo>
                  <a:cubicBezTo>
                    <a:pt x="171323" y="2295906"/>
                    <a:pt x="0" y="2124583"/>
                    <a:pt x="0" y="1913255"/>
                  </a:cubicBezTo>
                  <a:close/>
                </a:path>
              </a:pathLst>
            </a:custGeom>
            <a:solidFill>
              <a:srgbClr val="1E293B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705314" y="5255962"/>
            <a:ext cx="1629651" cy="152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6A34A"/>
                </a:solidFill>
                <a:latin typeface="Segoe UI Bold"/>
                <a:ea typeface="Segoe UI Bold"/>
                <a:cs typeface="Segoe UI Bold"/>
                <a:sym typeface="Segoe UI Bold"/>
              </a:rPr>
              <a:t>Backend REST API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rPr>
              <a:t>Node.js 20 LTS + Express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rPr>
              <a:t>Docker en Render PaaS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338647" y="7023906"/>
            <a:ext cx="2048618" cy="1721920"/>
            <a:chOff x="0" y="0"/>
            <a:chExt cx="2731491" cy="22958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31516" cy="2295906"/>
            </a:xfrm>
            <a:custGeom>
              <a:avLst/>
              <a:gdLst/>
              <a:ahLst/>
              <a:cxnLst/>
              <a:rect r="r" b="b" t="t" l="l"/>
              <a:pathLst>
                <a:path h="2295906" w="2731516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2348865" y="0"/>
                  </a:lnTo>
                  <a:cubicBezTo>
                    <a:pt x="2560193" y="0"/>
                    <a:pt x="2731516" y="171323"/>
                    <a:pt x="2731516" y="382651"/>
                  </a:cubicBezTo>
                  <a:lnTo>
                    <a:pt x="2731516" y="1913255"/>
                  </a:lnTo>
                  <a:cubicBezTo>
                    <a:pt x="2731516" y="2124583"/>
                    <a:pt x="2560193" y="2295906"/>
                    <a:pt x="2348865" y="2295906"/>
                  </a:cubicBezTo>
                  <a:lnTo>
                    <a:pt x="382651" y="2295906"/>
                  </a:lnTo>
                  <a:cubicBezTo>
                    <a:pt x="171323" y="2295906"/>
                    <a:pt x="0" y="2124583"/>
                    <a:pt x="0" y="1913255"/>
                  </a:cubicBezTo>
                  <a:close/>
                </a:path>
              </a:pathLst>
            </a:custGeom>
            <a:solidFill>
              <a:srgbClr val="1E293B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572009" y="7165829"/>
            <a:ext cx="1629651" cy="152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AB308"/>
                </a:solidFill>
                <a:latin typeface="Segoe UI Bold"/>
                <a:ea typeface="Segoe UI Bold"/>
                <a:cs typeface="Segoe UI Bold"/>
                <a:sym typeface="Segoe UI Bold"/>
              </a:rPr>
              <a:t>Persistencia BCNF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rPr>
              <a:t>PostgreSQL 16 (12 Tablas)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rPr>
              <a:t>Transacciones ACID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512842" y="7023906"/>
            <a:ext cx="2048618" cy="1721920"/>
            <a:chOff x="0" y="0"/>
            <a:chExt cx="2731491" cy="22958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31516" cy="2295906"/>
            </a:xfrm>
            <a:custGeom>
              <a:avLst/>
              <a:gdLst/>
              <a:ahLst/>
              <a:cxnLst/>
              <a:rect r="r" b="b" t="t" l="l"/>
              <a:pathLst>
                <a:path h="2295906" w="2731516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2348865" y="0"/>
                  </a:lnTo>
                  <a:cubicBezTo>
                    <a:pt x="2560193" y="0"/>
                    <a:pt x="2731516" y="171323"/>
                    <a:pt x="2731516" y="382651"/>
                  </a:cubicBezTo>
                  <a:lnTo>
                    <a:pt x="2731516" y="1913255"/>
                  </a:lnTo>
                  <a:cubicBezTo>
                    <a:pt x="2731516" y="2124583"/>
                    <a:pt x="2560193" y="2295906"/>
                    <a:pt x="2348865" y="2295906"/>
                  </a:cubicBezTo>
                  <a:lnTo>
                    <a:pt x="382651" y="2295906"/>
                  </a:lnTo>
                  <a:cubicBezTo>
                    <a:pt x="171323" y="2295906"/>
                    <a:pt x="0" y="2124583"/>
                    <a:pt x="0" y="1913255"/>
                  </a:cubicBezTo>
                  <a:close/>
                </a:path>
              </a:pathLst>
            </a:custGeom>
            <a:solidFill>
              <a:srgbClr val="1E293B"/>
            </a:solidFill>
            <a:ln w="9525" cap="sq">
              <a:solidFill>
                <a:srgbClr val="334155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4746205" y="7165829"/>
            <a:ext cx="1629651" cy="152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F472B6"/>
                </a:solidFill>
                <a:latin typeface="Segoe UI Bold"/>
                <a:ea typeface="Segoe UI Bold"/>
                <a:cs typeface="Segoe UI Bold"/>
                <a:sym typeface="Segoe UI Bold"/>
              </a:rPr>
              <a:t>Garantía y Seguridad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rPr>
              <a:t>Pruebas 100% Exitosas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rPr>
              <a:t>OWASP Top 10 + SSL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6293" y="5180571"/>
            <a:ext cx="10671162" cy="443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27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Justificación de Boyce-Codd (BCNF)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Principio: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En cada dependencia funcional X → Y, X es superclave.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Erradicación de Redundancias: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Se segregan productos textiles de sus variantes por talla y color con stock independiente.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Consistencia Histórica: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Cabecera orders desacoplada de order_items congelando precio unitario de venta.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Auditoría Inmutable: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Tabla order_status_history registra transiciones con timestamp UTC y usuario.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Restricciones DDL: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ON DELETE RESTRICT en FKs para proteger órdenes; CHECK(total_amount &gt;= 0) y CHECK(stock_current &gt;= 0).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Índices B-Tree: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idx_orders_client_id, idx_product_variants_sku, idx_orders_status.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-361655"/>
            <a:ext cx="3086100" cy="10648655"/>
          </a:xfrm>
          <a:custGeom>
            <a:avLst/>
            <a:gdLst/>
            <a:ahLst/>
            <a:cxnLst/>
            <a:rect r="r" b="b" t="t" l="l"/>
            <a:pathLst>
              <a:path h="10648655" w="3086100">
                <a:moveTo>
                  <a:pt x="0" y="0"/>
                </a:moveTo>
                <a:lnTo>
                  <a:pt x="3086100" y="0"/>
                </a:lnTo>
                <a:lnTo>
                  <a:pt x="3086100" y="10648655"/>
                </a:lnTo>
                <a:lnTo>
                  <a:pt x="0" y="10648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85800" y="809134"/>
          <a:ext cx="8990156" cy="6072188"/>
        </p:xfrm>
        <a:graphic>
          <a:graphicData uri="http://schemas.openxmlformats.org/drawingml/2006/table">
            <a:tbl>
              <a:tblPr/>
              <a:tblGrid>
                <a:gridCol w="2996719"/>
                <a:gridCol w="5993437"/>
              </a:tblGrid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Tabla Física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Propósito de Negocio (database/schema.sql)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users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Cuentas, roles (ADMIN/OPERATOR) y hashes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clients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Directorio (DNI/RUC, teléfono, ubigeo)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categories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Familias textiles (Polos, Shorts, Licras)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products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Catálogo maestro y precio base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product_variants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Combinación talla/color, SKU y stock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orders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Cabecera comercial, totales y estado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order_items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Líneas de detalle, cantidad y subtotal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order_status_history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Auditoría forense de transiciones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shipping_agencies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Agencias homologadas (Shalom, Olva)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payments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Registro de transacción (Yape, Plin, BCP)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coupons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Reglas de cupones con tope del 50%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670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audit_logs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US" sz="1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Bitácora general de seguridad del sistema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85800" y="6960938"/>
            <a:ext cx="9094470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0F27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Control de Concurrencia y Transacciones Atómicas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Riesgo de Concurrencia:</a:t>
            </a:r>
            <a:r>
              <a:rPr lang="en-US" sz="18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Sobreventa cuando dos operadores registran la última unidad en stock simultáneamente.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Aislamiento READ COMMITTED:</a:t>
            </a:r>
            <a:r>
              <a:rPr lang="en-US" sz="18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Lecturas atómicas consistentes sin lecturas sucias ni inconsistencias.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Bloqueo Pesimista:</a:t>
            </a:r>
            <a:r>
              <a:rPr lang="en-US" sz="18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Sentencia SELECT ... FOR UPDATE sobre product_variants garantizando exclusión mutua.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Actualización Condicional:</a:t>
            </a:r>
            <a:r>
              <a:rPr lang="en-US" sz="18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UPDATE product_variants SET stock_current = stock_current - $1 WHERE id = $2 AND stock_current &gt;= $1.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Reversión Automática:</a:t>
            </a:r>
            <a:r>
              <a:rPr lang="en-US" sz="18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Bloque try/catch que ejecuta ROLLBACK ante cualquier excepción o stock insuficiente.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Pool Management:</a:t>
            </a:r>
            <a:r>
              <a:rPr lang="en-US" sz="18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Liberación obligatoria del cliente en bloque finally con client.release().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134429" y="793747"/>
            <a:ext cx="6946897" cy="9095699"/>
            <a:chOff x="0" y="0"/>
            <a:chExt cx="9262529" cy="12127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62618" cy="12127611"/>
            </a:xfrm>
            <a:custGeom>
              <a:avLst/>
              <a:gdLst/>
              <a:ahLst/>
              <a:cxnLst/>
              <a:rect r="r" b="b" t="t" l="l"/>
              <a:pathLst>
                <a:path h="12127611" w="9262618">
                  <a:moveTo>
                    <a:pt x="0" y="1543812"/>
                  </a:moveTo>
                  <a:cubicBezTo>
                    <a:pt x="0" y="691134"/>
                    <a:pt x="691134" y="0"/>
                    <a:pt x="1543812" y="0"/>
                  </a:cubicBezTo>
                  <a:lnTo>
                    <a:pt x="7718806" y="0"/>
                  </a:lnTo>
                  <a:cubicBezTo>
                    <a:pt x="8571357" y="0"/>
                    <a:pt x="9262618" y="691134"/>
                    <a:pt x="9262618" y="1543812"/>
                  </a:cubicBezTo>
                  <a:lnTo>
                    <a:pt x="9262618" y="10583799"/>
                  </a:lnTo>
                  <a:cubicBezTo>
                    <a:pt x="9262618" y="11436350"/>
                    <a:pt x="8571485" y="12127611"/>
                    <a:pt x="7718806" y="12127611"/>
                  </a:cubicBezTo>
                  <a:lnTo>
                    <a:pt x="1543812" y="12127611"/>
                  </a:lnTo>
                  <a:cubicBezTo>
                    <a:pt x="691134" y="12127611"/>
                    <a:pt x="0" y="11436477"/>
                    <a:pt x="0" y="10583799"/>
                  </a:cubicBez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1121390" y="1240403"/>
            <a:ext cx="4846320" cy="816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// PgOrderRepository.ts (Informe APF2)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export class PgOrderRepository implements IOrderRepository {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async create(order, items) {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    const client = await pool.connect();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try {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      await client.query('BEGIN');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// 1. Insertar orden maestra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      const res = await client.query(orderQuery, orderParams);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const orderId = res.rows[0].id;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// 2. Descontar stock atómicamente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for (const item of items) {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        await client.query(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  'UPDATE product_variants SET stock_current = stock_current - $1 ' +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  'WHERE id = $2 AND stock_current &gt;= $1;',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  [item.qty, item.variantId]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);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        await client.query(insertItemSQL, [orderId, ...]);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      await client.query('COMMIT');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return { ...order, id: orderId };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} catch (err) {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      await client.query('ROLLBACK');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throw err;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} finally {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client.release();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-361655"/>
            <a:ext cx="3086100" cy="10648655"/>
          </a:xfrm>
          <a:custGeom>
            <a:avLst/>
            <a:gdLst/>
            <a:ahLst/>
            <a:cxnLst/>
            <a:rect r="r" b="b" t="t" l="l"/>
            <a:pathLst>
              <a:path h="10648655" w="3086100">
                <a:moveTo>
                  <a:pt x="0" y="0"/>
                </a:moveTo>
                <a:lnTo>
                  <a:pt x="3086100" y="0"/>
                </a:lnTo>
                <a:lnTo>
                  <a:pt x="3086100" y="10648655"/>
                </a:lnTo>
                <a:lnTo>
                  <a:pt x="0" y="10648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9576" y="1570406"/>
            <a:ext cx="15895320" cy="290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27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 de Pruebas Automatizadas (Shift-Left)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Enfoque Metodológico: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Pruebas continuas ejecutadas automáticamente en cada commit o ciclo de integración.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Pruebas Unitarias (Vitest):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Validación de mappers, esquemas de catálogo y cálculo algorítmico de subtotales.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Pruebas de Integración (Supertest):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Verificación de ciclo completo de autenticación JWT y creación transaccional ACID.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Análisis Estático (TypeScript):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Compilador tsc --noEmit ejecutado sobre monorepo completo certificando cero errores de tipado.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Rendimiento de Ejecución: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La totalidad de la suite se ejecuta en menos de 800 milisegundos, permitiendo Quality Gates ágiles.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19576" y="4293136"/>
          <a:ext cx="15062200" cy="5302107"/>
        </p:xfrm>
        <a:graphic>
          <a:graphicData uri="http://schemas.openxmlformats.org/drawingml/2006/table">
            <a:tbl>
              <a:tblPr/>
              <a:tblGrid>
                <a:gridCol w="2749074"/>
                <a:gridCol w="2577257"/>
                <a:gridCol w="1374537"/>
                <a:gridCol w="1889989"/>
                <a:gridCol w="6471343"/>
              </a:tblGrid>
              <a:tr h="8308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Suite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Tipo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Casos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Resultado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Latencia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10391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auth.test.ts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Integración API JWT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 / 5 ✅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&lt; 400 ms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768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products.test.ts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Unitario Catálogo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 / 3 ✅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&lt; 100 ms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8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orders.test.ts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Integración ACID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 / 4 ✅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&lt; 800 ms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0391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TypeScript Strict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Análisis Estático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Monorepo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 Errores ✅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91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TOTAL CONSOLIDADO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Suite Completa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12+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100% Passed ✅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E3A8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&lt; 800 ms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-361655"/>
            <a:ext cx="3086100" cy="10648655"/>
          </a:xfrm>
          <a:custGeom>
            <a:avLst/>
            <a:gdLst/>
            <a:ahLst/>
            <a:cxnLst/>
            <a:rect r="r" b="b" t="t" l="l"/>
            <a:pathLst>
              <a:path h="10648655" w="3086100">
                <a:moveTo>
                  <a:pt x="0" y="0"/>
                </a:moveTo>
                <a:lnTo>
                  <a:pt x="3086100" y="0"/>
                </a:lnTo>
                <a:lnTo>
                  <a:pt x="3086100" y="10648655"/>
                </a:lnTo>
                <a:lnTo>
                  <a:pt x="0" y="10648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960" y="704088"/>
            <a:ext cx="14795583" cy="55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2744"/>
                </a:solidFill>
                <a:latin typeface="Segoe UI Bold"/>
                <a:ea typeface="Segoe UI Bold"/>
                <a:cs typeface="Segoe UI Bold"/>
                <a:sym typeface="Segoe UI Bold"/>
              </a:rPr>
              <a:t>Diagrama de la Pirámide de Pruebas y Quality Gate Automatizado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67420" y="2863202"/>
            <a:ext cx="16175303" cy="6022318"/>
            <a:chOff x="0" y="0"/>
            <a:chExt cx="21567071" cy="802975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7597131" cy="8029758"/>
              <a:chOff x="0" y="0"/>
              <a:chExt cx="21374913" cy="9753600"/>
            </a:xfrm>
          </p:grpSpPr>
          <p:sp>
            <p:nvSpPr>
              <p:cNvPr name="Freeform 6" id="6" descr="flujo_pruebas.png"/>
              <p:cNvSpPr/>
              <p:nvPr/>
            </p:nvSpPr>
            <p:spPr>
              <a:xfrm flipH="false" flipV="false" rot="0">
                <a:off x="0" y="0"/>
                <a:ext cx="21374863" cy="9753600"/>
              </a:xfrm>
              <a:custGeom>
                <a:avLst/>
                <a:gdLst/>
                <a:ahLst/>
                <a:cxnLst/>
                <a:rect r="r" b="b" t="t" l="l"/>
                <a:pathLst>
                  <a:path h="9753600" w="21374863">
                    <a:moveTo>
                      <a:pt x="0" y="0"/>
                    </a:moveTo>
                    <a:lnTo>
                      <a:pt x="21374863" y="0"/>
                    </a:lnTo>
                    <a:lnTo>
                      <a:pt x="21374863" y="9753600"/>
                    </a:lnTo>
                    <a:lnTo>
                      <a:pt x="0" y="975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22516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7363658" y="0"/>
              <a:ext cx="4203413" cy="8029758"/>
              <a:chOff x="0" y="0"/>
              <a:chExt cx="5105809" cy="9753600"/>
            </a:xfrm>
          </p:grpSpPr>
          <p:sp>
            <p:nvSpPr>
              <p:cNvPr name="Freeform 8" id="8" descr="flujo_pruebas.png"/>
              <p:cNvSpPr/>
              <p:nvPr/>
            </p:nvSpPr>
            <p:spPr>
              <a:xfrm flipH="false" flipV="false" rot="0">
                <a:off x="0" y="0"/>
                <a:ext cx="5105797" cy="9753600"/>
              </a:xfrm>
              <a:custGeom>
                <a:avLst/>
                <a:gdLst/>
                <a:ahLst/>
                <a:cxnLst/>
                <a:rect r="r" b="b" t="t" l="l"/>
                <a:pathLst>
                  <a:path h="9753600" w="5105797">
                    <a:moveTo>
                      <a:pt x="0" y="0"/>
                    </a:moveTo>
                    <a:lnTo>
                      <a:pt x="5105797" y="0"/>
                    </a:lnTo>
                    <a:lnTo>
                      <a:pt x="5105797" y="9753600"/>
                    </a:lnTo>
                    <a:lnTo>
                      <a:pt x="0" y="9753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412902" t="0" r="0" b="0"/>
                </a:stretch>
              </a:blipFill>
            </p:spPr>
          </p:sp>
        </p:grp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-361655"/>
            <a:ext cx="3086100" cy="10648655"/>
          </a:xfrm>
          <a:custGeom>
            <a:avLst/>
            <a:gdLst/>
            <a:ahLst/>
            <a:cxnLst/>
            <a:rect r="r" b="b" t="t" l="l"/>
            <a:pathLst>
              <a:path h="10648655" w="3086100">
                <a:moveTo>
                  <a:pt x="0" y="0"/>
                </a:moveTo>
                <a:lnTo>
                  <a:pt x="3086100" y="0"/>
                </a:lnTo>
                <a:lnTo>
                  <a:pt x="3086100" y="10648655"/>
                </a:lnTo>
                <a:lnTo>
                  <a:pt x="0" y="10648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960" y="1459811"/>
            <a:ext cx="15514863" cy="37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2744"/>
                </a:solidFill>
                <a:latin typeface="Segoe UI Bold"/>
                <a:ea typeface="Segoe UI Bold"/>
                <a:cs typeface="Segoe UI Bold"/>
                <a:sym typeface="Segoe UI Bold"/>
              </a:rPr>
              <a:t>Despliegue de la Aplicación en la Nube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2960" y="2158879"/>
            <a:ext cx="7208006" cy="633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27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Topología Multi-Cloud Desacoplada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Frontend PWA: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Desplegado Serverless en GitHub Pages Edge CDN mediante pipeline de GitHub Actions.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URL Producción: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https://leofit-solutions-grupo01.github.io/leofit-pedidos-sistema/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Backend API REST: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Contenedor Docker en Web Service de Render.com (Alpine Linux, Node 20 LTS).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URL API: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https://leofit-backend-api.onrender.com/api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Persistencia Gestionada: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Clúster PostgreSQL 16 administrado en Render con enlace cifrado SSL (sslmode=require).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PgBouncer Pooler: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Operando en puerto 6432 limitando a 20 conexiones simultáneas para optimizar memoria RAM.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Replicación WAL: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Streaming físico activo con wal_level = replica y respaldos diarios con pg_dump.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96726" y="2131076"/>
            <a:ext cx="7610113" cy="279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27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Variables de Entorno Seguras (Render Secrets)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DATABASE_URL: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Cadena de conexión cifrada hacia PostgreSQL.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JWT_SECRET: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Clave simétrica de 64 bytes de entropía.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PORT=5000: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Asignado dinámicamente por la plataforma cloud.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NODE_ENV=production: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Activa cachés y optimizaciones.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96726" y="5702313"/>
            <a:ext cx="7585405" cy="27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Ventajas de la Arquitectura Seleccionada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✓ Costo de infraestructura $0 durante la fase de validación académica.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✓ Escalabilidad elástica independiente entre frontend web y API backend.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✓ Tolerancia a fallos: PWA opera con caché local ante micro-cortes de red.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-361655"/>
            <a:ext cx="3086100" cy="10648655"/>
          </a:xfrm>
          <a:custGeom>
            <a:avLst/>
            <a:gdLst/>
            <a:ahLst/>
            <a:cxnLst/>
            <a:rect r="r" b="b" t="t" l="l"/>
            <a:pathLst>
              <a:path h="10648655" w="3086100">
                <a:moveTo>
                  <a:pt x="0" y="0"/>
                </a:moveTo>
                <a:lnTo>
                  <a:pt x="3086100" y="0"/>
                </a:lnTo>
                <a:lnTo>
                  <a:pt x="3086100" y="10648655"/>
                </a:lnTo>
                <a:lnTo>
                  <a:pt x="0" y="10648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8680" y="1376553"/>
            <a:ext cx="14150207" cy="66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0F2744"/>
                </a:solidFill>
                <a:latin typeface="Segoe UI Bold"/>
                <a:ea typeface="Segoe UI Bold"/>
                <a:cs typeface="Segoe UI Bold"/>
                <a:sym typeface="Segoe UI Bold"/>
              </a:rPr>
              <a:t>Diagrama de Arquitectura de Despliegue Multi-Cloud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28490" y="3749342"/>
            <a:ext cx="16566890" cy="2617103"/>
            <a:chOff x="0" y="0"/>
            <a:chExt cx="22089186" cy="348947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4828374" cy="3489471"/>
              <a:chOff x="0" y="0"/>
              <a:chExt cx="24350436" cy="5730240"/>
            </a:xfrm>
          </p:grpSpPr>
          <p:sp>
            <p:nvSpPr>
              <p:cNvPr name="Freeform 6" id="6" descr="arch_cloud.png"/>
              <p:cNvSpPr/>
              <p:nvPr/>
            </p:nvSpPr>
            <p:spPr>
              <a:xfrm flipH="false" flipV="false" rot="0">
                <a:off x="0" y="0"/>
                <a:ext cx="24350436" cy="5730240"/>
              </a:xfrm>
              <a:custGeom>
                <a:avLst/>
                <a:gdLst/>
                <a:ahLst/>
                <a:cxnLst/>
                <a:rect r="r" b="b" t="t" l="l"/>
                <a:pathLst>
                  <a:path h="5730240" w="24350436">
                    <a:moveTo>
                      <a:pt x="0" y="0"/>
                    </a:moveTo>
                    <a:lnTo>
                      <a:pt x="24350436" y="0"/>
                    </a:lnTo>
                    <a:lnTo>
                      <a:pt x="24350436" y="5730240"/>
                    </a:lnTo>
                    <a:lnTo>
                      <a:pt x="0" y="57302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694" t="0" r="-49300" b="0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7260813" y="0"/>
              <a:ext cx="14828374" cy="3489471"/>
              <a:chOff x="0" y="0"/>
              <a:chExt cx="24350436" cy="5730240"/>
            </a:xfrm>
          </p:grpSpPr>
          <p:sp>
            <p:nvSpPr>
              <p:cNvPr name="Freeform 8" id="8" descr="arch_cloud.png"/>
              <p:cNvSpPr/>
              <p:nvPr/>
            </p:nvSpPr>
            <p:spPr>
              <a:xfrm flipH="false" flipV="false" rot="0">
                <a:off x="0" y="0"/>
                <a:ext cx="24350436" cy="5730240"/>
              </a:xfrm>
              <a:custGeom>
                <a:avLst/>
                <a:gdLst/>
                <a:ahLst/>
                <a:cxnLst/>
                <a:rect r="r" b="b" t="t" l="l"/>
                <a:pathLst>
                  <a:path h="5730240" w="24350436">
                    <a:moveTo>
                      <a:pt x="0" y="0"/>
                    </a:moveTo>
                    <a:lnTo>
                      <a:pt x="24350436" y="0"/>
                    </a:lnTo>
                    <a:lnTo>
                      <a:pt x="24350436" y="5730240"/>
                    </a:lnTo>
                    <a:lnTo>
                      <a:pt x="0" y="57302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49995" t="0" r="0" b="0"/>
                </a:stretch>
              </a:blipFill>
            </p:spPr>
          </p:sp>
        </p:grp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0352" y="1178328"/>
            <a:ext cx="7175992" cy="8575834"/>
            <a:chOff x="0" y="0"/>
            <a:chExt cx="9567990" cy="114344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68053" cy="11434445"/>
            </a:xfrm>
            <a:custGeom>
              <a:avLst/>
              <a:gdLst/>
              <a:ahLst/>
              <a:cxnLst/>
              <a:rect r="r" b="b" t="t" l="l"/>
              <a:pathLst>
                <a:path h="11434445" w="9568053">
                  <a:moveTo>
                    <a:pt x="0" y="1594739"/>
                  </a:moveTo>
                  <a:cubicBezTo>
                    <a:pt x="0" y="713994"/>
                    <a:pt x="713994" y="0"/>
                    <a:pt x="1594739" y="0"/>
                  </a:cubicBezTo>
                  <a:lnTo>
                    <a:pt x="7973314" y="0"/>
                  </a:lnTo>
                  <a:cubicBezTo>
                    <a:pt x="8854059" y="0"/>
                    <a:pt x="9568053" y="713994"/>
                    <a:pt x="9568053" y="1594739"/>
                  </a:cubicBezTo>
                  <a:lnTo>
                    <a:pt x="9568053" y="9839706"/>
                  </a:lnTo>
                  <a:cubicBezTo>
                    <a:pt x="9568053" y="10720451"/>
                    <a:pt x="8854059" y="11434445"/>
                    <a:pt x="7973314" y="11434445"/>
                  </a:cubicBezTo>
                  <a:lnTo>
                    <a:pt x="1594739" y="11434445"/>
                  </a:lnTo>
                  <a:cubicBezTo>
                    <a:pt x="713994" y="11434445"/>
                    <a:pt x="0" y="10720451"/>
                    <a:pt x="0" y="9839706"/>
                  </a:cubicBezTo>
                  <a:close/>
                </a:path>
              </a:pathLst>
            </a:custGeom>
            <a:solidFill>
              <a:srgbClr val="0F172A"/>
            </a:solidFill>
            <a:ln w="1270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259300" y="-361655"/>
            <a:ext cx="3086100" cy="10648655"/>
          </a:xfrm>
          <a:custGeom>
            <a:avLst/>
            <a:gdLst/>
            <a:ahLst/>
            <a:cxnLst/>
            <a:rect r="r" b="b" t="t" l="l"/>
            <a:pathLst>
              <a:path h="10648655" w="3086100">
                <a:moveTo>
                  <a:pt x="0" y="0"/>
                </a:moveTo>
                <a:lnTo>
                  <a:pt x="3086100" y="0"/>
                </a:lnTo>
                <a:lnTo>
                  <a:pt x="3086100" y="10648655"/>
                </a:lnTo>
                <a:lnTo>
                  <a:pt x="0" y="10648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2960" y="713613"/>
            <a:ext cx="21586822" cy="42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2744"/>
                </a:solidFill>
                <a:latin typeface="Segoe UI Bold"/>
                <a:ea typeface="Segoe UI Bold"/>
                <a:cs typeface="Segoe UI Bold"/>
                <a:sym typeface="Segoe UI Bold"/>
              </a:rPr>
              <a:t>Monitoreo, Telemetría y Endpoint /api/health en Producción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7191" y="1860966"/>
            <a:ext cx="6150369" cy="710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A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Respuesta Real del Endpoint /api/health: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GET https://leofit-backend-api.onrender.com/api/health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rPr>
              <a:t>HTTP/1.1 200 OK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"status": "UP",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"timestamp": "2026-10-09T18:00:00.000Z",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"database": {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"status": "connected"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},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"uptimeSeconds": 14208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Auditoría en Vivo con pg_stat_activity: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SELECT pid, usename, state, query_start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FROM pg_stat_activity WHERE datname = 'leofit_db';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40040" y="1463116"/>
            <a:ext cx="9766868" cy="498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27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Métricas de Operación en Producción Cloud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881551" y="2125156"/>
          <a:ext cx="9931400" cy="3605212"/>
        </p:xfrm>
        <a:graphic>
          <a:graphicData uri="http://schemas.openxmlformats.org/drawingml/2006/table">
            <a:tbl>
              <a:tblPr/>
              <a:tblGrid>
                <a:gridCol w="3791989"/>
                <a:gridCol w="1805709"/>
                <a:gridCol w="2347422"/>
                <a:gridCol w="1986280"/>
              </a:tblGrid>
              <a:tr h="6008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Métrica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Valor Real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Estado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6008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Latencia de Red (p95)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&lt; 100 ms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&lt; 45 ms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Óptimo ✅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008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Estado Conexión BD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connected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Conectado SSL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Activo ✅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Transacciones Bloqueadas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deadlocks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Óptimo ✅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008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Tasa Aciertos Caché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&gt; 95%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&gt; 99.2%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Excelente ✅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Conexiones PgBouncer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&lt; 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Estables en pool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Estable ✅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7940040" y="6054219"/>
            <a:ext cx="9585960" cy="316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F27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Mitigación de Cold Start en la Nube Gratuita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• Reto: Instancias inactivas en Render se suspenden tras 15 minutos sin tráfico.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• Solución: Sonda Keep-Alive programada cada 14 minutos que mantiene el contenedor caliente durante la jornada comercial.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• Frontend Resiliente: Interceptor Axios con 3 reintentos exponenciales y cola local en IndexedDB.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-361655"/>
            <a:ext cx="3086100" cy="10648655"/>
          </a:xfrm>
          <a:custGeom>
            <a:avLst/>
            <a:gdLst/>
            <a:ahLst/>
            <a:cxnLst/>
            <a:rect r="r" b="b" t="t" l="l"/>
            <a:pathLst>
              <a:path h="10648655" w="3086100">
                <a:moveTo>
                  <a:pt x="0" y="0"/>
                </a:moveTo>
                <a:lnTo>
                  <a:pt x="3086100" y="0"/>
                </a:lnTo>
                <a:lnTo>
                  <a:pt x="3086100" y="10648655"/>
                </a:lnTo>
                <a:lnTo>
                  <a:pt x="0" y="10648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6840" y="1160145"/>
            <a:ext cx="13914825" cy="60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F2744"/>
                </a:solidFill>
                <a:latin typeface="Segoe UI Bold"/>
                <a:ea typeface="Segoe UI Bold"/>
                <a:cs typeface="Segoe UI Bold"/>
                <a:sym typeface="Segoe UI Bold"/>
              </a:rPr>
              <a:t>Conclusiones Técnicas y Hoja de Ruta hacia el Cierre Final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6020" y="3181350"/>
            <a:ext cx="7040975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Arquitectura Probada y Estable: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La topología desacoplada PWA ↔ REST API ↔ PostgreSQL demostró alta confiabilidad y latencias inferiores a 45 ms en producción real.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Consistencia Relacional BCNF: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El modelo físico de 12 tablas y el patrón repositorio garantizan transaccionalidad ACID y cero sobreventas en LeoFit.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Ciberseguridad Robusta: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Los controles OWASP Top 10, hashes Bcrypt y firmas criptográficas JWT protegen integralmente los datos comerciales y de clientes.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62215" y="3366021"/>
            <a:ext cx="7040975" cy="351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Pipeline CI/CD Completo: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Automatización de pruebas unitarias, linting y despliegue continuo mediante GitHub Actions en cada push a main.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Interoperabilidad Externa: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Emisión e impresión térmica directa de comprobantes (Boletas y Rótulos PDF con código QR) e integración a WhatsApp API.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Evaluación UAT con Usuarios:</a:t>
            </a: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  Pruebas formales de usabilidad bajo norma ISO/IEC 25010 en la tienda física de LeoFit con medición final de satisfacción.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5461" y="-361655"/>
            <a:ext cx="3086100" cy="10648655"/>
          </a:xfrm>
          <a:custGeom>
            <a:avLst/>
            <a:gdLst/>
            <a:ahLst/>
            <a:cxnLst/>
            <a:rect r="r" b="b" t="t" l="l"/>
            <a:pathLst>
              <a:path h="10648655" w="3086100">
                <a:moveTo>
                  <a:pt x="0" y="0"/>
                </a:moveTo>
                <a:lnTo>
                  <a:pt x="3086100" y="0"/>
                </a:lnTo>
                <a:lnTo>
                  <a:pt x="3086100" y="10648655"/>
                </a:lnTo>
                <a:lnTo>
                  <a:pt x="0" y="10648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01851" y="1333500"/>
            <a:ext cx="2084308" cy="2246690"/>
            <a:chOff x="0" y="0"/>
            <a:chExt cx="2779078" cy="29955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9014" cy="2995549"/>
            </a:xfrm>
            <a:custGeom>
              <a:avLst/>
              <a:gdLst/>
              <a:ahLst/>
              <a:cxnLst/>
              <a:rect r="r" b="b" t="t" l="l"/>
              <a:pathLst>
                <a:path h="2995549" w="2779014">
                  <a:moveTo>
                    <a:pt x="0" y="0"/>
                  </a:moveTo>
                  <a:lnTo>
                    <a:pt x="2779014" y="0"/>
                  </a:lnTo>
                  <a:lnTo>
                    <a:pt x="2779014" y="2995549"/>
                  </a:lnTo>
                  <a:lnTo>
                    <a:pt x="0" y="2995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95" t="0" r="-3897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785389" y="3956094"/>
            <a:ext cx="8717223" cy="326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91"/>
              </a:lnSpc>
            </a:pPr>
            <a:r>
              <a:rPr lang="en-US" sz="10343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MUCHAS GRACIAS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414067" y="6858467"/>
            <a:ext cx="7704801" cy="1272130"/>
          </a:xfrm>
          <a:custGeom>
            <a:avLst/>
            <a:gdLst/>
            <a:ahLst/>
            <a:cxnLst/>
            <a:rect r="r" b="b" t="t" l="l"/>
            <a:pathLst>
              <a:path h="1272130" w="7704801">
                <a:moveTo>
                  <a:pt x="0" y="0"/>
                </a:moveTo>
                <a:lnTo>
                  <a:pt x="7704801" y="0"/>
                </a:lnTo>
                <a:lnTo>
                  <a:pt x="7704801" y="1272130"/>
                </a:lnTo>
                <a:lnTo>
                  <a:pt x="0" y="12721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89587" y="7276957"/>
            <a:ext cx="7153770" cy="60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Gestión y Toma de Pedidos Multicanal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86350" y="3636454"/>
            <a:ext cx="8115300" cy="62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324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Sistema Web PWA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057400" y="-361655"/>
            <a:ext cx="3086100" cy="10648655"/>
          </a:xfrm>
          <a:custGeom>
            <a:avLst/>
            <a:gdLst/>
            <a:ahLst/>
            <a:cxnLst/>
            <a:rect r="r" b="b" t="t" l="l"/>
            <a:pathLst>
              <a:path h="10648655" w="3086100">
                <a:moveTo>
                  <a:pt x="0" y="0"/>
                </a:moveTo>
                <a:lnTo>
                  <a:pt x="3086100" y="0"/>
                </a:lnTo>
                <a:lnTo>
                  <a:pt x="3086100" y="10648655"/>
                </a:lnTo>
                <a:lnTo>
                  <a:pt x="0" y="10648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DAHU179KemY</dc:identifier>
  <dcterms:modified xsi:type="dcterms:W3CDTF">2011-08-01T06:04:30Z</dcterms:modified>
  <cp:revision>1</cp:revision>
  <dc:title>GRUP01-Curso_Integrador_II_Software</dc:title>
</cp:coreProperties>
</file>